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4703CC-E1D6-4959-AB27-307CE69F2E25}" v="14" dt="2026-09-30T07:42:31.220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7" d="100"/>
          <a:sy n="47" d="100"/>
        </p:scale>
        <p:origin x="500" y="6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 u="sng">
                <a:solidFill>
                  <a:srgbClr val="006FBF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1760"/>
              </a:lnSpc>
            </a:pPr>
            <a:r>
              <a:rPr dirty="0"/>
              <a:t>@SIH</a:t>
            </a:r>
            <a:r>
              <a:rPr spc="-85" dirty="0"/>
              <a:t> </a:t>
            </a:r>
            <a:r>
              <a:rPr spc="-25" dirty="0"/>
              <a:t>Idea</a:t>
            </a:r>
            <a:r>
              <a:rPr spc="-85" dirty="0"/>
              <a:t> </a:t>
            </a:r>
            <a:r>
              <a:rPr dirty="0"/>
              <a:t>submission-</a:t>
            </a:r>
            <a:r>
              <a:rPr spc="-85" dirty="0"/>
              <a:t> </a:t>
            </a:r>
            <a:r>
              <a:rPr spc="-10" dirty="0"/>
              <a:t>Template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63500">
              <a:lnSpc>
                <a:spcPts val="176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 u="sng">
                <a:solidFill>
                  <a:srgbClr val="006FBF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1760"/>
              </a:lnSpc>
            </a:pPr>
            <a:r>
              <a:rPr dirty="0"/>
              <a:t>@SIH</a:t>
            </a:r>
            <a:r>
              <a:rPr spc="-85" dirty="0"/>
              <a:t> </a:t>
            </a:r>
            <a:r>
              <a:rPr spc="-25" dirty="0"/>
              <a:t>Idea</a:t>
            </a:r>
            <a:r>
              <a:rPr spc="-85" dirty="0"/>
              <a:t> </a:t>
            </a:r>
            <a:r>
              <a:rPr dirty="0"/>
              <a:t>submission-</a:t>
            </a:r>
            <a:r>
              <a:rPr spc="-85" dirty="0"/>
              <a:t> </a:t>
            </a:r>
            <a:r>
              <a:rPr spc="-10" dirty="0"/>
              <a:t>Template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63500">
              <a:lnSpc>
                <a:spcPts val="176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1760"/>
              </a:lnSpc>
            </a:pPr>
            <a:r>
              <a:rPr dirty="0"/>
              <a:t>@SIH</a:t>
            </a:r>
            <a:r>
              <a:rPr spc="-85" dirty="0"/>
              <a:t> </a:t>
            </a:r>
            <a:r>
              <a:rPr spc="-25" dirty="0"/>
              <a:t>Idea</a:t>
            </a:r>
            <a:r>
              <a:rPr spc="-85" dirty="0"/>
              <a:t> </a:t>
            </a:r>
            <a:r>
              <a:rPr dirty="0"/>
              <a:t>submission-</a:t>
            </a:r>
            <a:r>
              <a:rPr spc="-85" dirty="0"/>
              <a:t> </a:t>
            </a:r>
            <a:r>
              <a:rPr spc="-10" dirty="0"/>
              <a:t>Template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63500">
              <a:lnSpc>
                <a:spcPts val="176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1760"/>
              </a:lnSpc>
            </a:pPr>
            <a:r>
              <a:rPr dirty="0"/>
              <a:t>@SIH</a:t>
            </a:r>
            <a:r>
              <a:rPr spc="-85" dirty="0"/>
              <a:t> </a:t>
            </a:r>
            <a:r>
              <a:rPr spc="-25" dirty="0"/>
              <a:t>Idea</a:t>
            </a:r>
            <a:r>
              <a:rPr spc="-85" dirty="0"/>
              <a:t> </a:t>
            </a:r>
            <a:r>
              <a:rPr dirty="0"/>
              <a:t>submission-</a:t>
            </a:r>
            <a:r>
              <a:rPr spc="-85" dirty="0"/>
              <a:t> </a:t>
            </a:r>
            <a:r>
              <a:rPr spc="-10" dirty="0"/>
              <a:t>Template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63500">
              <a:lnSpc>
                <a:spcPts val="176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1760"/>
              </a:lnSpc>
            </a:pPr>
            <a:r>
              <a:rPr dirty="0"/>
              <a:t>@SIH</a:t>
            </a:r>
            <a:r>
              <a:rPr spc="-85" dirty="0"/>
              <a:t> </a:t>
            </a:r>
            <a:r>
              <a:rPr spc="-25" dirty="0"/>
              <a:t>Idea</a:t>
            </a:r>
            <a:r>
              <a:rPr spc="-85" dirty="0"/>
              <a:t> </a:t>
            </a:r>
            <a:r>
              <a:rPr dirty="0"/>
              <a:t>submission-</a:t>
            </a:r>
            <a:r>
              <a:rPr spc="-85" dirty="0"/>
              <a:t> </a:t>
            </a:r>
            <a:r>
              <a:rPr spc="-10" dirty="0"/>
              <a:t>Template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63500">
              <a:lnSpc>
                <a:spcPts val="176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9532142"/>
            <a:ext cx="18288000" cy="755015"/>
          </a:xfrm>
          <a:custGeom>
            <a:avLst/>
            <a:gdLst/>
            <a:ahLst/>
            <a:cxnLst/>
            <a:rect l="l" t="t" r="r" b="b"/>
            <a:pathLst>
              <a:path w="18288000" h="755015">
                <a:moveTo>
                  <a:pt x="18287589" y="754856"/>
                </a:moveTo>
                <a:lnTo>
                  <a:pt x="0" y="754856"/>
                </a:lnTo>
                <a:lnTo>
                  <a:pt x="0" y="0"/>
                </a:lnTo>
                <a:lnTo>
                  <a:pt x="18287589" y="0"/>
                </a:lnTo>
                <a:lnTo>
                  <a:pt x="18287589" y="754856"/>
                </a:lnTo>
                <a:close/>
              </a:path>
            </a:pathLst>
          </a:custGeom>
          <a:solidFill>
            <a:srgbClr val="006FB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204086" y="179171"/>
            <a:ext cx="12251548" cy="10413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15365" y="1930332"/>
            <a:ext cx="16257269" cy="6121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 u="sng">
                <a:solidFill>
                  <a:srgbClr val="006FBF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468422" y="9781827"/>
            <a:ext cx="3351529" cy="254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1760"/>
              </a:lnSpc>
            </a:pPr>
            <a:r>
              <a:rPr dirty="0"/>
              <a:t>@SIH</a:t>
            </a:r>
            <a:r>
              <a:rPr spc="-85" dirty="0"/>
              <a:t> </a:t>
            </a:r>
            <a:r>
              <a:rPr spc="-25" dirty="0"/>
              <a:t>Idea</a:t>
            </a:r>
            <a:r>
              <a:rPr spc="-85" dirty="0"/>
              <a:t> </a:t>
            </a:r>
            <a:r>
              <a:rPr dirty="0"/>
              <a:t>submission-</a:t>
            </a:r>
            <a:r>
              <a:rPr spc="-85" dirty="0"/>
              <a:t> </a:t>
            </a:r>
            <a:r>
              <a:rPr spc="-10" dirty="0"/>
              <a:t>Template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7182851" y="9680630"/>
            <a:ext cx="318134" cy="254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63500">
              <a:lnSpc>
                <a:spcPts val="176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jpeg"/><Relationship Id="rId7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jpe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msme.gov.in/offerings?page=1&amp;utm_source=chatgpt.com" TargetMode="External"/><Relationship Id="rId3" Type="http://schemas.openxmlformats.org/officeDocument/2006/relationships/hyperlink" Target="https://www.ijeetr.com/index.php/ijeetr/article/view/418?utm_source=chatgpt.com" TargetMode="External"/><Relationship Id="rId7" Type="http://schemas.openxmlformats.org/officeDocument/2006/relationships/hyperlink" Target="https://www.startupindia.gov.in/content/sih/en/government-schemes.html?utm_source=chatgpt.com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ia-pmegp.msme.gov.in/?utm_source=chatgpt.com" TargetMode="External"/><Relationship Id="rId11" Type="http://schemas.openxmlformats.org/officeDocument/2006/relationships/image" Target="../media/image13.png"/><Relationship Id="rId5" Type="http://schemas.openxmlformats.org/officeDocument/2006/relationships/hyperlink" Target="https://ijarcce.com/papers/yojanamitra-an-ai-assisted-framework-for-government-scheme-eligibility-matching-and-guidance/?utm_source=chatgpt.com" TargetMode="External"/><Relationship Id="rId10" Type="http://schemas.openxmlformats.org/officeDocument/2006/relationships/image" Target="../media/image12.png"/><Relationship Id="rId4" Type="http://schemas.openxmlformats.org/officeDocument/2006/relationships/hyperlink" Target="https://www.ijeetr.com/index.php/ijeetr/article/view/872?utm_source=chatgpt.com" TargetMode="External"/><Relationship Id="rId9" Type="http://schemas.openxmlformats.org/officeDocument/2006/relationships/hyperlink" Target="https://www.myscheme.gov.in/?utm_source=chatgpt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1134385" y="1606015"/>
            <a:ext cx="9015095" cy="1534266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67325">
              <a:lnSpc>
                <a:spcPct val="100000"/>
              </a:lnSpc>
              <a:spcBef>
                <a:spcPts val="100"/>
              </a:spcBef>
            </a:pPr>
            <a:r>
              <a:rPr sz="4800" b="1" dirty="0">
                <a:latin typeface="Times New Roman"/>
                <a:cs typeface="Times New Roman"/>
              </a:rPr>
              <a:t>TITLE</a:t>
            </a:r>
            <a:r>
              <a:rPr sz="4800" b="1" spc="-20" dirty="0">
                <a:latin typeface="Times New Roman"/>
                <a:cs typeface="Times New Roman"/>
              </a:rPr>
              <a:t> PAGE</a:t>
            </a:r>
            <a:endParaRPr sz="4800" dirty="0">
              <a:latin typeface="Times New Roman"/>
              <a:cs typeface="Times New Roman"/>
            </a:endParaRPr>
          </a:p>
          <a:p>
            <a:pPr marL="584200" indent="-571500">
              <a:lnSpc>
                <a:spcPct val="100000"/>
              </a:lnSpc>
              <a:spcBef>
                <a:spcPts val="3975"/>
              </a:spcBef>
              <a:buFont typeface="Arial" panose="020B0604020202020204" pitchFamily="34" charset="0"/>
              <a:buChar char="•"/>
            </a:pPr>
            <a:r>
              <a:rPr sz="3600" b="1" dirty="0">
                <a:latin typeface="Arial"/>
                <a:cs typeface="Arial"/>
              </a:rPr>
              <a:t>Problem</a:t>
            </a:r>
            <a:r>
              <a:rPr sz="3600" b="1" spc="-100" dirty="0">
                <a:latin typeface="Arial"/>
                <a:cs typeface="Arial"/>
              </a:rPr>
              <a:t> </a:t>
            </a:r>
            <a:r>
              <a:rPr sz="3600" b="1" dirty="0">
                <a:latin typeface="Arial"/>
                <a:cs typeface="Arial"/>
              </a:rPr>
              <a:t>Statement</a:t>
            </a:r>
            <a:r>
              <a:rPr sz="3600" b="1" spc="-100" dirty="0">
                <a:latin typeface="Arial"/>
                <a:cs typeface="Arial"/>
              </a:rPr>
              <a:t> </a:t>
            </a:r>
            <a:r>
              <a:rPr sz="3600" b="1" dirty="0">
                <a:latin typeface="Arial"/>
                <a:cs typeface="Arial"/>
              </a:rPr>
              <a:t>ID</a:t>
            </a:r>
            <a:r>
              <a:rPr sz="3600" b="1" spc="-100" dirty="0">
                <a:latin typeface="Arial"/>
                <a:cs typeface="Arial"/>
              </a:rPr>
              <a:t> </a:t>
            </a:r>
            <a:r>
              <a:rPr lang="en-IN" sz="3600" b="1" spc="-100" dirty="0">
                <a:latin typeface="Arial"/>
                <a:cs typeface="Arial"/>
              </a:rPr>
              <a:t>-</a:t>
            </a:r>
            <a:r>
              <a:rPr sz="3600" b="1" spc="-95" dirty="0">
                <a:latin typeface="Arial"/>
                <a:cs typeface="Arial"/>
              </a:rPr>
              <a:t> </a:t>
            </a:r>
            <a:r>
              <a:rPr sz="3600" b="1" spc="-10" dirty="0">
                <a:latin typeface="Arial"/>
                <a:cs typeface="Arial"/>
              </a:rPr>
              <a:t>2</a:t>
            </a:r>
            <a:r>
              <a:rPr lang="en-IN" sz="3600" b="1" spc="-10" dirty="0">
                <a:latin typeface="Arial"/>
                <a:cs typeface="Arial"/>
              </a:rPr>
              <a:t>6092</a:t>
            </a:r>
          </a:p>
          <a:p>
            <a:pPr marL="584200" indent="-571500">
              <a:spcBef>
                <a:spcPts val="3975"/>
              </a:spcBef>
              <a:buFont typeface="Arial" panose="020B0604020202020204" pitchFamily="34" charset="0"/>
              <a:buChar char="•"/>
            </a:pPr>
            <a:r>
              <a:rPr lang="en-US" sz="3600" b="1" dirty="0">
                <a:latin typeface="Arial"/>
                <a:cs typeface="Arial"/>
              </a:rPr>
              <a:t>Problem</a:t>
            </a:r>
            <a:r>
              <a:rPr lang="en-US" sz="3600" b="1" spc="-165" dirty="0">
                <a:latin typeface="Arial"/>
                <a:cs typeface="Arial"/>
              </a:rPr>
              <a:t> </a:t>
            </a:r>
            <a:r>
              <a:rPr lang="en-US" sz="3600" b="1" dirty="0">
                <a:latin typeface="Arial"/>
                <a:cs typeface="Arial"/>
              </a:rPr>
              <a:t>Statement</a:t>
            </a:r>
            <a:r>
              <a:rPr lang="en-US" sz="3600" b="1" spc="-160" dirty="0">
                <a:latin typeface="Arial"/>
                <a:cs typeface="Arial"/>
              </a:rPr>
              <a:t> </a:t>
            </a:r>
            <a:r>
              <a:rPr lang="en-US" sz="3600" b="1" dirty="0">
                <a:latin typeface="Arial"/>
                <a:cs typeface="Arial"/>
              </a:rPr>
              <a:t>Title -</a:t>
            </a:r>
            <a:r>
              <a:rPr lang="en-US" sz="3600" b="1" spc="-165" dirty="0">
                <a:latin typeface="Arial"/>
                <a:cs typeface="Arial"/>
              </a:rPr>
              <a:t>  AI – Driven Scheme Matching for Marginalized Entrepreneurs</a:t>
            </a:r>
          </a:p>
          <a:p>
            <a:pPr marL="584200" indent="-571500">
              <a:spcBef>
                <a:spcPts val="3975"/>
              </a:spcBef>
              <a:buFont typeface="Arial" panose="020B0604020202020204" pitchFamily="34" charset="0"/>
              <a:buChar char="•"/>
            </a:pPr>
            <a:r>
              <a:rPr lang="en-IN" sz="3600" b="1" dirty="0">
                <a:latin typeface="Arial"/>
                <a:cs typeface="Arial"/>
              </a:rPr>
              <a:t>Theme -</a:t>
            </a:r>
            <a:r>
              <a:rPr lang="en-IN" sz="3600" b="1" spc="-120" dirty="0">
                <a:latin typeface="Arial"/>
                <a:cs typeface="Arial"/>
              </a:rPr>
              <a:t> </a:t>
            </a:r>
            <a:r>
              <a:rPr lang="en-IN" sz="3600" b="1" dirty="0">
                <a:latin typeface="Arial"/>
                <a:cs typeface="Arial"/>
              </a:rPr>
              <a:t>Smart</a:t>
            </a:r>
            <a:r>
              <a:rPr lang="en-IN" sz="3600" b="1" spc="-120" dirty="0">
                <a:latin typeface="Arial"/>
                <a:cs typeface="Arial"/>
              </a:rPr>
              <a:t> </a:t>
            </a:r>
            <a:r>
              <a:rPr lang="en-IN" sz="3600" b="1" spc="-10" dirty="0">
                <a:latin typeface="Arial"/>
                <a:cs typeface="Arial"/>
              </a:rPr>
              <a:t>Automation</a:t>
            </a:r>
          </a:p>
          <a:p>
            <a:pPr marL="584200" indent="-571500">
              <a:spcBef>
                <a:spcPts val="3975"/>
              </a:spcBef>
              <a:buFont typeface="Arial" panose="020B0604020202020204" pitchFamily="34" charset="0"/>
              <a:buChar char="•"/>
            </a:pPr>
            <a:r>
              <a:rPr lang="en-IN" sz="3600" b="1" spc="-10" dirty="0">
                <a:latin typeface="Arial"/>
                <a:cs typeface="Arial"/>
              </a:rPr>
              <a:t>PS Category - Software</a:t>
            </a:r>
          </a:p>
          <a:p>
            <a:pPr marL="584200" indent="-571500">
              <a:spcBef>
                <a:spcPts val="3975"/>
              </a:spcBef>
              <a:buFont typeface="Arial" panose="020B0604020202020204" pitchFamily="34" charset="0"/>
              <a:buChar char="•"/>
            </a:pPr>
            <a:r>
              <a:rPr lang="en-IN" sz="3600" b="1" spc="-10" dirty="0">
                <a:latin typeface="Arial"/>
                <a:cs typeface="Arial"/>
              </a:rPr>
              <a:t>Team ID -</a:t>
            </a:r>
          </a:p>
          <a:p>
            <a:pPr marL="584200" indent="-571500">
              <a:spcBef>
                <a:spcPts val="3975"/>
              </a:spcBef>
              <a:buFont typeface="Arial" panose="020B0604020202020204" pitchFamily="34" charset="0"/>
              <a:buChar char="•"/>
            </a:pPr>
            <a:r>
              <a:rPr lang="en-IN" sz="3600" b="1" spc="-10" dirty="0">
                <a:latin typeface="Arial"/>
                <a:cs typeface="Arial"/>
              </a:rPr>
              <a:t>Team Name - OFF BY ONE</a:t>
            </a:r>
            <a:endParaRPr lang="en-IN" sz="3600" dirty="0">
              <a:latin typeface="Arial"/>
              <a:cs typeface="Arial"/>
            </a:endParaRPr>
          </a:p>
          <a:p>
            <a:pPr marL="584200" indent="-571500">
              <a:spcBef>
                <a:spcPts val="3975"/>
              </a:spcBef>
              <a:buFont typeface="Arial" panose="020B0604020202020204" pitchFamily="34" charset="0"/>
              <a:buChar char="•"/>
            </a:pPr>
            <a:endParaRPr lang="en-US" sz="3600" dirty="0">
              <a:latin typeface="Arial"/>
              <a:cs typeface="Arial"/>
            </a:endParaRPr>
          </a:p>
          <a:p>
            <a:pPr marL="584200" indent="-571500">
              <a:lnSpc>
                <a:spcPct val="100000"/>
              </a:lnSpc>
              <a:spcBef>
                <a:spcPts val="3975"/>
              </a:spcBef>
              <a:buFont typeface="Arial" panose="020B0604020202020204" pitchFamily="34" charset="0"/>
              <a:buChar char="•"/>
            </a:pPr>
            <a:endParaRPr lang="en-IN" sz="3600" b="1" spc="-10" dirty="0">
              <a:latin typeface="Arial"/>
              <a:cs typeface="Arial"/>
            </a:endParaRPr>
          </a:p>
          <a:p>
            <a:pPr marL="584200" indent="-571500">
              <a:lnSpc>
                <a:spcPct val="100000"/>
              </a:lnSpc>
              <a:spcBef>
                <a:spcPts val="3975"/>
              </a:spcBef>
              <a:buFont typeface="Arial" panose="020B0604020202020204" pitchFamily="34" charset="0"/>
              <a:buChar char="•"/>
            </a:pPr>
            <a:endParaRPr sz="36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25"/>
              </a:spcBef>
            </a:pPr>
            <a:endParaRPr lang="en-IN" sz="3600" b="1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25"/>
              </a:spcBef>
            </a:pPr>
            <a:r>
              <a:rPr sz="3600" b="1" dirty="0">
                <a:latin typeface="Arial"/>
                <a:cs typeface="Arial"/>
              </a:rPr>
              <a:t>Theme-</a:t>
            </a:r>
            <a:r>
              <a:rPr sz="3600" b="1" spc="-120" dirty="0">
                <a:latin typeface="Arial"/>
                <a:cs typeface="Arial"/>
              </a:rPr>
              <a:t> </a:t>
            </a:r>
            <a:r>
              <a:rPr sz="3600" b="1" dirty="0">
                <a:latin typeface="Arial"/>
                <a:cs typeface="Arial"/>
              </a:rPr>
              <a:t>Smart</a:t>
            </a:r>
            <a:r>
              <a:rPr sz="3600" b="1" spc="-120" dirty="0">
                <a:latin typeface="Arial"/>
                <a:cs typeface="Arial"/>
              </a:rPr>
              <a:t> </a:t>
            </a:r>
            <a:r>
              <a:rPr sz="3600" b="1" spc="-10" dirty="0">
                <a:latin typeface="Arial"/>
                <a:cs typeface="Arial"/>
              </a:rPr>
              <a:t>Automation</a:t>
            </a:r>
            <a:endParaRPr sz="3600" dirty="0">
              <a:latin typeface="Arial"/>
              <a:cs typeface="Arial"/>
            </a:endParaRPr>
          </a:p>
          <a:p>
            <a:pPr marL="12700" marR="3922395">
              <a:lnSpc>
                <a:spcPts val="6290"/>
              </a:lnSpc>
              <a:spcBef>
                <a:spcPts val="535"/>
              </a:spcBef>
            </a:pPr>
            <a:r>
              <a:rPr sz="3600" b="1" dirty="0">
                <a:latin typeface="Arial"/>
                <a:cs typeface="Arial"/>
              </a:rPr>
              <a:t>PS</a:t>
            </a:r>
            <a:r>
              <a:rPr sz="3600" b="1" spc="-114" dirty="0">
                <a:latin typeface="Arial"/>
                <a:cs typeface="Arial"/>
              </a:rPr>
              <a:t> </a:t>
            </a:r>
            <a:r>
              <a:rPr sz="3600" b="1" dirty="0">
                <a:latin typeface="Arial"/>
                <a:cs typeface="Arial"/>
              </a:rPr>
              <a:t>Category-</a:t>
            </a:r>
            <a:r>
              <a:rPr sz="3600" b="1" spc="-114" dirty="0">
                <a:latin typeface="Arial"/>
                <a:cs typeface="Arial"/>
              </a:rPr>
              <a:t> </a:t>
            </a:r>
            <a:r>
              <a:rPr lang="en-IN" sz="3600" b="1" spc="-10" dirty="0">
                <a:latin typeface="Arial"/>
                <a:cs typeface="Arial"/>
              </a:rPr>
              <a:t>Software</a:t>
            </a:r>
            <a:r>
              <a:rPr sz="3600" b="1" spc="-10" dirty="0">
                <a:latin typeface="Arial"/>
                <a:cs typeface="Arial"/>
              </a:rPr>
              <a:t> </a:t>
            </a:r>
            <a:r>
              <a:rPr sz="3600" b="1" dirty="0">
                <a:latin typeface="Arial"/>
                <a:cs typeface="Arial"/>
              </a:rPr>
              <a:t>Team</a:t>
            </a:r>
            <a:r>
              <a:rPr sz="3600" b="1" spc="-100" dirty="0">
                <a:latin typeface="Arial"/>
                <a:cs typeface="Arial"/>
              </a:rPr>
              <a:t> </a:t>
            </a:r>
            <a:r>
              <a:rPr sz="3600" b="1" spc="-25" dirty="0">
                <a:latin typeface="Arial"/>
                <a:cs typeface="Arial"/>
              </a:rPr>
              <a:t>ID-</a:t>
            </a:r>
            <a:endParaRPr sz="36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25"/>
              </a:spcBef>
            </a:pPr>
            <a:r>
              <a:rPr sz="3600" b="1" dirty="0">
                <a:latin typeface="Arial"/>
                <a:cs typeface="Arial"/>
              </a:rPr>
              <a:t>Team</a:t>
            </a:r>
            <a:r>
              <a:rPr sz="3600" b="1" spc="-105" dirty="0">
                <a:latin typeface="Arial"/>
                <a:cs typeface="Arial"/>
              </a:rPr>
              <a:t> </a:t>
            </a:r>
            <a:r>
              <a:rPr sz="3600" b="1" dirty="0">
                <a:latin typeface="Arial"/>
                <a:cs typeface="Arial"/>
              </a:rPr>
              <a:t>Name-</a:t>
            </a:r>
            <a:r>
              <a:rPr sz="3600" b="1" spc="-105" dirty="0">
                <a:latin typeface="Arial"/>
                <a:cs typeface="Arial"/>
              </a:rPr>
              <a:t> </a:t>
            </a:r>
            <a:r>
              <a:rPr lang="en-IN" sz="3600" b="1" spc="-105" dirty="0">
                <a:latin typeface="Arial"/>
                <a:cs typeface="Arial"/>
              </a:rPr>
              <a:t>OFF BY ONE</a:t>
            </a:r>
            <a:endParaRPr sz="3600" dirty="0">
              <a:latin typeface="Arial"/>
              <a:cs typeface="Arial"/>
            </a:endParaRPr>
          </a:p>
        </p:txBody>
      </p:sp>
      <p:grpSp>
        <p:nvGrpSpPr>
          <p:cNvPr id="2" name="object 2"/>
          <p:cNvGrpSpPr/>
          <p:nvPr/>
        </p:nvGrpSpPr>
        <p:grpSpPr>
          <a:xfrm>
            <a:off x="10301445" y="1525849"/>
            <a:ext cx="6953250" cy="7734300"/>
            <a:chOff x="10301445" y="1525849"/>
            <a:chExt cx="6953250" cy="7734300"/>
          </a:xfrm>
        </p:grpSpPr>
        <p:sp>
          <p:nvSpPr>
            <p:cNvPr id="3" name="object 3"/>
            <p:cNvSpPr/>
            <p:nvPr/>
          </p:nvSpPr>
          <p:spPr>
            <a:xfrm>
              <a:off x="10301445" y="1525849"/>
              <a:ext cx="6953250" cy="7734300"/>
            </a:xfrm>
            <a:custGeom>
              <a:avLst/>
              <a:gdLst/>
              <a:ahLst/>
              <a:cxnLst/>
              <a:rect l="l" t="t" r="r" b="b"/>
              <a:pathLst>
                <a:path w="6953250" h="7734300">
                  <a:moveTo>
                    <a:pt x="5273432" y="7734299"/>
                  </a:moveTo>
                  <a:lnTo>
                    <a:pt x="2798804" y="7734299"/>
                  </a:lnTo>
                  <a:lnTo>
                    <a:pt x="2755486" y="7731510"/>
                  </a:lnTo>
                  <a:lnTo>
                    <a:pt x="2713181" y="7723274"/>
                  </a:lnTo>
                  <a:lnTo>
                    <a:pt x="2672110" y="7709783"/>
                  </a:lnTo>
                  <a:lnTo>
                    <a:pt x="2632490" y="7691230"/>
                  </a:lnTo>
                  <a:lnTo>
                    <a:pt x="2594538" y="7667807"/>
                  </a:lnTo>
                  <a:lnTo>
                    <a:pt x="2558471" y="7639707"/>
                  </a:lnTo>
                  <a:lnTo>
                    <a:pt x="2524505" y="7607124"/>
                  </a:lnTo>
                  <a:lnTo>
                    <a:pt x="2492855" y="7570250"/>
                  </a:lnTo>
                  <a:lnTo>
                    <a:pt x="2463739" y="7529278"/>
                  </a:lnTo>
                  <a:lnTo>
                    <a:pt x="2437372" y="7484400"/>
                  </a:lnTo>
                  <a:lnTo>
                    <a:pt x="2413970" y="7435810"/>
                  </a:lnTo>
                  <a:lnTo>
                    <a:pt x="1179322" y="4586121"/>
                  </a:lnTo>
                  <a:lnTo>
                    <a:pt x="1160955" y="4540722"/>
                  </a:lnTo>
                  <a:lnTo>
                    <a:pt x="1145927" y="4493597"/>
                  </a:lnTo>
                  <a:lnTo>
                    <a:pt x="1134239" y="4445090"/>
                  </a:lnTo>
                  <a:lnTo>
                    <a:pt x="1125891" y="4395549"/>
                  </a:lnTo>
                  <a:lnTo>
                    <a:pt x="1120882" y="4345318"/>
                  </a:lnTo>
                  <a:lnTo>
                    <a:pt x="1119212" y="4294743"/>
                  </a:lnTo>
                  <a:lnTo>
                    <a:pt x="1120882" y="4244170"/>
                  </a:lnTo>
                  <a:lnTo>
                    <a:pt x="1125891" y="4193945"/>
                  </a:lnTo>
                  <a:lnTo>
                    <a:pt x="1134239" y="4144414"/>
                  </a:lnTo>
                  <a:lnTo>
                    <a:pt x="1145927" y="4095921"/>
                  </a:lnTo>
                  <a:lnTo>
                    <a:pt x="1160955" y="4048813"/>
                  </a:lnTo>
                  <a:lnTo>
                    <a:pt x="1179322" y="4003436"/>
                  </a:lnTo>
                  <a:lnTo>
                    <a:pt x="1676379" y="2856167"/>
                  </a:lnTo>
                  <a:lnTo>
                    <a:pt x="1675047" y="2855405"/>
                  </a:lnTo>
                  <a:lnTo>
                    <a:pt x="1636865" y="2815963"/>
                  </a:lnTo>
                  <a:lnTo>
                    <a:pt x="1606894" y="2763658"/>
                  </a:lnTo>
                  <a:lnTo>
                    <a:pt x="1088420" y="1566943"/>
                  </a:lnTo>
                  <a:lnTo>
                    <a:pt x="1072246" y="1520004"/>
                  </a:lnTo>
                  <a:lnTo>
                    <a:pt x="1064159" y="1470047"/>
                  </a:lnTo>
                  <a:lnTo>
                    <a:pt x="1064159" y="1419084"/>
                  </a:lnTo>
                  <a:lnTo>
                    <a:pt x="1072246" y="1369127"/>
                  </a:lnTo>
                  <a:lnTo>
                    <a:pt x="1088420" y="1322188"/>
                  </a:lnTo>
                  <a:lnTo>
                    <a:pt x="1606946" y="125378"/>
                  </a:lnTo>
                  <a:lnTo>
                    <a:pt x="1630265" y="82571"/>
                  </a:lnTo>
                  <a:lnTo>
                    <a:pt x="1659083" y="47722"/>
                  </a:lnTo>
                  <a:lnTo>
                    <a:pt x="1692396" y="21776"/>
                  </a:lnTo>
                  <a:lnTo>
                    <a:pt x="1729255" y="5586"/>
                  </a:lnTo>
                  <a:lnTo>
                    <a:pt x="1768709" y="0"/>
                  </a:lnTo>
                  <a:lnTo>
                    <a:pt x="2807942" y="0"/>
                  </a:lnTo>
                  <a:lnTo>
                    <a:pt x="2855889" y="8671"/>
                  </a:lnTo>
                  <a:lnTo>
                    <a:pt x="2900248" y="33571"/>
                  </a:lnTo>
                  <a:lnTo>
                    <a:pt x="2938289" y="73030"/>
                  </a:lnTo>
                  <a:lnTo>
                    <a:pt x="2967282" y="125378"/>
                  </a:lnTo>
                  <a:lnTo>
                    <a:pt x="2984068" y="163963"/>
                  </a:lnTo>
                  <a:lnTo>
                    <a:pt x="1827534" y="163963"/>
                  </a:lnTo>
                  <a:lnTo>
                    <a:pt x="1784162" y="171647"/>
                  </a:lnTo>
                  <a:lnTo>
                    <a:pt x="1744699" y="193712"/>
                  </a:lnTo>
                  <a:lnTo>
                    <a:pt x="1710839" y="228674"/>
                  </a:lnTo>
                  <a:lnTo>
                    <a:pt x="1684280" y="275050"/>
                  </a:lnTo>
                  <a:lnTo>
                    <a:pt x="1224630" y="1336003"/>
                  </a:lnTo>
                  <a:lnTo>
                    <a:pt x="1210284" y="1377606"/>
                  </a:lnTo>
                  <a:lnTo>
                    <a:pt x="1203111" y="1421885"/>
                  </a:lnTo>
                  <a:lnTo>
                    <a:pt x="1203111" y="1467055"/>
                  </a:lnTo>
                  <a:lnTo>
                    <a:pt x="1210284" y="1511334"/>
                  </a:lnTo>
                  <a:lnTo>
                    <a:pt x="1224597" y="1552842"/>
                  </a:lnTo>
                  <a:lnTo>
                    <a:pt x="1684280" y="2613890"/>
                  </a:lnTo>
                  <a:lnTo>
                    <a:pt x="1710860" y="2660287"/>
                  </a:lnTo>
                  <a:lnTo>
                    <a:pt x="1744723" y="2695252"/>
                  </a:lnTo>
                  <a:lnTo>
                    <a:pt x="1751671" y="2699159"/>
                  </a:lnTo>
                  <a:lnTo>
                    <a:pt x="1686279" y="2850070"/>
                  </a:lnTo>
                  <a:lnTo>
                    <a:pt x="1727116" y="2870032"/>
                  </a:lnTo>
                  <a:lnTo>
                    <a:pt x="6401873" y="2874936"/>
                  </a:lnTo>
                  <a:lnTo>
                    <a:pt x="6892915" y="4003436"/>
                  </a:lnTo>
                  <a:lnTo>
                    <a:pt x="6911273" y="4048813"/>
                  </a:lnTo>
                  <a:lnTo>
                    <a:pt x="6926296" y="4095921"/>
                  </a:lnTo>
                  <a:lnTo>
                    <a:pt x="6937984" y="4144414"/>
                  </a:lnTo>
                  <a:lnTo>
                    <a:pt x="6946335" y="4193945"/>
                  </a:lnTo>
                  <a:lnTo>
                    <a:pt x="6951347" y="4244170"/>
                  </a:lnTo>
                  <a:lnTo>
                    <a:pt x="6953022" y="4294743"/>
                  </a:lnTo>
                  <a:lnTo>
                    <a:pt x="6951357" y="4345318"/>
                  </a:lnTo>
                  <a:lnTo>
                    <a:pt x="6946352" y="4395549"/>
                  </a:lnTo>
                  <a:lnTo>
                    <a:pt x="6938006" y="4445090"/>
                  </a:lnTo>
                  <a:lnTo>
                    <a:pt x="6926318" y="4493597"/>
                  </a:lnTo>
                  <a:lnTo>
                    <a:pt x="6911288" y="4540722"/>
                  </a:lnTo>
                  <a:lnTo>
                    <a:pt x="6892915" y="4586121"/>
                  </a:lnTo>
                  <a:lnTo>
                    <a:pt x="5652935" y="7435810"/>
                  </a:lnTo>
                  <a:lnTo>
                    <a:pt x="5630728" y="7484400"/>
                  </a:lnTo>
                  <a:lnTo>
                    <a:pt x="5605124" y="7529278"/>
                  </a:lnTo>
                  <a:lnTo>
                    <a:pt x="5576436" y="7570250"/>
                  </a:lnTo>
                  <a:lnTo>
                    <a:pt x="5544976" y="7607124"/>
                  </a:lnTo>
                  <a:lnTo>
                    <a:pt x="5511058" y="7639707"/>
                  </a:lnTo>
                  <a:lnTo>
                    <a:pt x="5474993" y="7667807"/>
                  </a:lnTo>
                  <a:lnTo>
                    <a:pt x="5437096" y="7691230"/>
                  </a:lnTo>
                  <a:lnTo>
                    <a:pt x="5397678" y="7709783"/>
                  </a:lnTo>
                  <a:lnTo>
                    <a:pt x="5357053" y="7723274"/>
                  </a:lnTo>
                  <a:lnTo>
                    <a:pt x="5315533" y="7731510"/>
                  </a:lnTo>
                  <a:lnTo>
                    <a:pt x="5273432" y="7734299"/>
                  </a:lnTo>
                  <a:close/>
                </a:path>
                <a:path w="6953250" h="7734300">
                  <a:moveTo>
                    <a:pt x="3278062" y="839825"/>
                  </a:moveTo>
                  <a:lnTo>
                    <a:pt x="3135855" y="839825"/>
                  </a:lnTo>
                  <a:lnTo>
                    <a:pt x="2890087" y="275050"/>
                  </a:lnTo>
                  <a:lnTo>
                    <a:pt x="2864362" y="228674"/>
                  </a:lnTo>
                  <a:lnTo>
                    <a:pt x="2830632" y="193712"/>
                  </a:lnTo>
                  <a:lnTo>
                    <a:pt x="2791316" y="171647"/>
                  </a:lnTo>
                  <a:lnTo>
                    <a:pt x="2748832" y="163963"/>
                  </a:lnTo>
                  <a:lnTo>
                    <a:pt x="2984068" y="163963"/>
                  </a:lnTo>
                  <a:lnTo>
                    <a:pt x="3278062" y="839825"/>
                  </a:lnTo>
                  <a:close/>
                </a:path>
                <a:path w="6953250" h="7734300">
                  <a:moveTo>
                    <a:pt x="2744644" y="2710972"/>
                  </a:moveTo>
                  <a:lnTo>
                    <a:pt x="1823345" y="2710972"/>
                  </a:lnTo>
                  <a:lnTo>
                    <a:pt x="1812213" y="2710477"/>
                  </a:lnTo>
                  <a:lnTo>
                    <a:pt x="1801250" y="2709007"/>
                  </a:lnTo>
                  <a:lnTo>
                    <a:pt x="1790484" y="2706591"/>
                  </a:lnTo>
                  <a:lnTo>
                    <a:pt x="1779941" y="2703255"/>
                  </a:lnTo>
                  <a:lnTo>
                    <a:pt x="1750053" y="2686678"/>
                  </a:lnTo>
                  <a:lnTo>
                    <a:pt x="2414256" y="1153747"/>
                  </a:lnTo>
                  <a:lnTo>
                    <a:pt x="2437681" y="1105136"/>
                  </a:lnTo>
                  <a:lnTo>
                    <a:pt x="2464070" y="1060245"/>
                  </a:lnTo>
                  <a:lnTo>
                    <a:pt x="2493205" y="1019266"/>
                  </a:lnTo>
                  <a:lnTo>
                    <a:pt x="2524870" y="982391"/>
                  </a:lnTo>
                  <a:lnTo>
                    <a:pt x="2558846" y="949812"/>
                  </a:lnTo>
                  <a:lnTo>
                    <a:pt x="2594917" y="921719"/>
                  </a:lnTo>
                  <a:lnTo>
                    <a:pt x="2632866" y="898304"/>
                  </a:lnTo>
                  <a:lnTo>
                    <a:pt x="2672475" y="879759"/>
                  </a:lnTo>
                  <a:lnTo>
                    <a:pt x="2713529" y="866275"/>
                  </a:lnTo>
                  <a:lnTo>
                    <a:pt x="2755814" y="858045"/>
                  </a:lnTo>
                  <a:lnTo>
                    <a:pt x="2799090" y="855259"/>
                  </a:lnTo>
                  <a:lnTo>
                    <a:pt x="3144422" y="855259"/>
                  </a:lnTo>
                  <a:lnTo>
                    <a:pt x="3347547" y="1321998"/>
                  </a:lnTo>
                  <a:lnTo>
                    <a:pt x="3361894" y="1363601"/>
                  </a:lnTo>
                  <a:lnTo>
                    <a:pt x="3369067" y="1407880"/>
                  </a:lnTo>
                  <a:lnTo>
                    <a:pt x="3369067" y="1453050"/>
                  </a:lnTo>
                  <a:lnTo>
                    <a:pt x="3361894" y="1497329"/>
                  </a:lnTo>
                  <a:lnTo>
                    <a:pt x="3347547" y="1538933"/>
                  </a:lnTo>
                  <a:lnTo>
                    <a:pt x="2885899" y="2599885"/>
                  </a:lnTo>
                  <a:lnTo>
                    <a:pt x="2860173" y="2646262"/>
                  </a:lnTo>
                  <a:lnTo>
                    <a:pt x="2826444" y="2681224"/>
                  </a:lnTo>
                  <a:lnTo>
                    <a:pt x="2787186" y="2703255"/>
                  </a:lnTo>
                  <a:lnTo>
                    <a:pt x="2744644" y="2710972"/>
                  </a:lnTo>
                  <a:close/>
                </a:path>
                <a:path w="6953250" h="7734300">
                  <a:moveTo>
                    <a:pt x="6401873" y="2874936"/>
                  </a:moveTo>
                  <a:lnTo>
                    <a:pt x="2803374" y="2874936"/>
                  </a:lnTo>
                  <a:lnTo>
                    <a:pt x="2851320" y="2866265"/>
                  </a:lnTo>
                  <a:lnTo>
                    <a:pt x="2895679" y="2841364"/>
                  </a:lnTo>
                  <a:lnTo>
                    <a:pt x="2933721" y="2801905"/>
                  </a:lnTo>
                  <a:lnTo>
                    <a:pt x="2962714" y="2749558"/>
                  </a:lnTo>
                  <a:lnTo>
                    <a:pt x="3483472" y="1552842"/>
                  </a:lnTo>
                  <a:lnTo>
                    <a:pt x="3499646" y="1505904"/>
                  </a:lnTo>
                  <a:lnTo>
                    <a:pt x="3507733" y="1455947"/>
                  </a:lnTo>
                  <a:lnTo>
                    <a:pt x="3507733" y="1404984"/>
                  </a:lnTo>
                  <a:lnTo>
                    <a:pt x="3499646" y="1355027"/>
                  </a:lnTo>
                  <a:lnTo>
                    <a:pt x="3483472" y="1308088"/>
                  </a:lnTo>
                  <a:lnTo>
                    <a:pt x="3286439" y="855259"/>
                  </a:lnTo>
                  <a:lnTo>
                    <a:pt x="5273430" y="855259"/>
                  </a:lnTo>
                  <a:lnTo>
                    <a:pt x="5315512" y="858045"/>
                  </a:lnTo>
                  <a:lnTo>
                    <a:pt x="5357018" y="866275"/>
                  </a:lnTo>
                  <a:lnTo>
                    <a:pt x="5397637" y="879759"/>
                  </a:lnTo>
                  <a:lnTo>
                    <a:pt x="5437054" y="898304"/>
                  </a:lnTo>
                  <a:lnTo>
                    <a:pt x="5474955" y="921719"/>
                  </a:lnTo>
                  <a:lnTo>
                    <a:pt x="5511026" y="949812"/>
                  </a:lnTo>
                  <a:lnTo>
                    <a:pt x="5544952" y="982391"/>
                  </a:lnTo>
                  <a:lnTo>
                    <a:pt x="5576421" y="1019266"/>
                  </a:lnTo>
                  <a:lnTo>
                    <a:pt x="5605117" y="1060245"/>
                  </a:lnTo>
                  <a:lnTo>
                    <a:pt x="5630726" y="1105136"/>
                  </a:lnTo>
                  <a:lnTo>
                    <a:pt x="5652935" y="1153747"/>
                  </a:lnTo>
                  <a:lnTo>
                    <a:pt x="6401873" y="2874936"/>
                  </a:lnTo>
                  <a:close/>
                </a:path>
                <a:path w="6953250" h="7734300">
                  <a:moveTo>
                    <a:pt x="1009892" y="6361235"/>
                  </a:moveTo>
                  <a:lnTo>
                    <a:pt x="408321" y="6361235"/>
                  </a:lnTo>
                  <a:lnTo>
                    <a:pt x="379957" y="6356201"/>
                  </a:lnTo>
                  <a:lnTo>
                    <a:pt x="332094" y="6318911"/>
                  </a:lnTo>
                  <a:lnTo>
                    <a:pt x="14634" y="5595912"/>
                  </a:lnTo>
                  <a:lnTo>
                    <a:pt x="0" y="5525077"/>
                  </a:lnTo>
                  <a:lnTo>
                    <a:pt x="3658" y="5488516"/>
                  </a:lnTo>
                  <a:lnTo>
                    <a:pt x="314753" y="4761518"/>
                  </a:lnTo>
                  <a:lnTo>
                    <a:pt x="354284" y="4708356"/>
                  </a:lnTo>
                  <a:lnTo>
                    <a:pt x="408321" y="4688920"/>
                  </a:lnTo>
                  <a:lnTo>
                    <a:pt x="1009892" y="4688920"/>
                  </a:lnTo>
                  <a:lnTo>
                    <a:pt x="1063326" y="4708356"/>
                  </a:lnTo>
                  <a:lnTo>
                    <a:pt x="1102126" y="4761518"/>
                  </a:lnTo>
                  <a:lnTo>
                    <a:pt x="1403578" y="5454242"/>
                  </a:lnTo>
                  <a:lnTo>
                    <a:pt x="1418213" y="5525077"/>
                  </a:lnTo>
                  <a:lnTo>
                    <a:pt x="1414554" y="5561638"/>
                  </a:lnTo>
                  <a:lnTo>
                    <a:pt x="1102126" y="6288637"/>
                  </a:lnTo>
                  <a:lnTo>
                    <a:pt x="1063326" y="6341763"/>
                  </a:lnTo>
                  <a:lnTo>
                    <a:pt x="1009892" y="6361235"/>
                  </a:lnTo>
                  <a:close/>
                </a:path>
              </a:pathLst>
            </a:custGeom>
            <a:solidFill>
              <a:srgbClr val="808080">
                <a:alpha val="14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160180" y="3241199"/>
              <a:ext cx="4805263" cy="5138301"/>
            </a:xfrm>
            <a:prstGeom prst="rect">
              <a:avLst/>
            </a:prstGeom>
          </p:spPr>
        </p:pic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2204086" y="179171"/>
            <a:ext cx="1213040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125" dirty="0">
                <a:solidFill>
                  <a:srgbClr val="1F497D"/>
                </a:solidFill>
              </a:rPr>
              <a:t>SMART</a:t>
            </a:r>
            <a:r>
              <a:rPr sz="6000" spc="-80" dirty="0">
                <a:solidFill>
                  <a:srgbClr val="1F497D"/>
                </a:solidFill>
              </a:rPr>
              <a:t> </a:t>
            </a:r>
            <a:r>
              <a:rPr sz="6000" spc="140" dirty="0">
                <a:solidFill>
                  <a:srgbClr val="1F497D"/>
                </a:solidFill>
              </a:rPr>
              <a:t>INDIA</a:t>
            </a:r>
            <a:r>
              <a:rPr sz="6000" spc="-80" dirty="0">
                <a:solidFill>
                  <a:srgbClr val="1F497D"/>
                </a:solidFill>
              </a:rPr>
              <a:t> </a:t>
            </a:r>
            <a:r>
              <a:rPr sz="6000" dirty="0">
                <a:solidFill>
                  <a:srgbClr val="1F497D"/>
                </a:solidFill>
              </a:rPr>
              <a:t>HACKATHON</a:t>
            </a:r>
            <a:r>
              <a:rPr sz="6000" spc="-75" dirty="0">
                <a:solidFill>
                  <a:srgbClr val="1F497D"/>
                </a:solidFill>
              </a:rPr>
              <a:t> </a:t>
            </a:r>
            <a:r>
              <a:rPr sz="6000" spc="-90" dirty="0">
                <a:solidFill>
                  <a:srgbClr val="1F497D"/>
                </a:solidFill>
              </a:rPr>
              <a:t>20</a:t>
            </a:r>
            <a:r>
              <a:rPr lang="en-IN" sz="6000" spc="-90" dirty="0">
                <a:solidFill>
                  <a:srgbClr val="1F497D"/>
                </a:solidFill>
              </a:rPr>
              <a:t>26</a:t>
            </a:r>
            <a:endParaRPr sz="6000" dirty="0"/>
          </a:p>
        </p:txBody>
      </p:sp>
      <p:pic>
        <p:nvPicPr>
          <p:cNvPr id="8" name="Picture 7" descr="A logo with text and a green light bulb&#10;&#10;AI-generated content may be incorrect.">
            <a:extLst>
              <a:ext uri="{FF2B5EF4-FFF2-40B4-BE49-F238E27FC236}">
                <a16:creationId xmlns:a16="http://schemas.microsoft.com/office/drawing/2014/main" id="{25FB6031-077D-17BD-F9BC-7B04CED1E1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68600" y="337068"/>
            <a:ext cx="2403147" cy="11440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5700" rIns="0" bIns="0" rtlCol="0">
            <a:spAutoFit/>
          </a:bodyPr>
          <a:lstStyle/>
          <a:p>
            <a:pPr marL="4820920">
              <a:lnSpc>
                <a:spcPct val="100000"/>
              </a:lnSpc>
              <a:spcBef>
                <a:spcPts val="100"/>
              </a:spcBef>
            </a:pPr>
            <a:r>
              <a:rPr dirty="0"/>
              <a:t>IDEA</a:t>
            </a:r>
            <a:r>
              <a:rPr spc="170" dirty="0"/>
              <a:t> </a:t>
            </a:r>
            <a:r>
              <a:rPr spc="-10" dirty="0"/>
              <a:t>TITLE</a:t>
            </a:r>
          </a:p>
        </p:txBody>
      </p:sp>
      <p:sp>
        <p:nvSpPr>
          <p:cNvPr id="14" name="object 14"/>
          <p:cNvSpPr/>
          <p:nvPr/>
        </p:nvSpPr>
        <p:spPr>
          <a:xfrm>
            <a:off x="486393" y="232698"/>
            <a:ext cx="1916430" cy="1248410"/>
          </a:xfrm>
          <a:custGeom>
            <a:avLst/>
            <a:gdLst/>
            <a:ahLst/>
            <a:cxnLst/>
            <a:rect l="l" t="t" r="r" b="b"/>
            <a:pathLst>
              <a:path w="1916430" h="1248410">
                <a:moveTo>
                  <a:pt x="0" y="623569"/>
                </a:moveTo>
                <a:lnTo>
                  <a:pt x="1662" y="588009"/>
                </a:lnTo>
                <a:lnTo>
                  <a:pt x="1781" y="585469"/>
                </a:lnTo>
                <a:lnTo>
                  <a:pt x="7054" y="547369"/>
                </a:lnTo>
                <a:lnTo>
                  <a:pt x="15710" y="509269"/>
                </a:lnTo>
                <a:lnTo>
                  <a:pt x="42741" y="438149"/>
                </a:lnTo>
                <a:lnTo>
                  <a:pt x="60899" y="403859"/>
                </a:lnTo>
                <a:lnTo>
                  <a:pt x="82010" y="369569"/>
                </a:lnTo>
                <a:lnTo>
                  <a:pt x="105964" y="336549"/>
                </a:lnTo>
                <a:lnTo>
                  <a:pt x="132655" y="306069"/>
                </a:lnTo>
                <a:lnTo>
                  <a:pt x="161973" y="275589"/>
                </a:lnTo>
                <a:lnTo>
                  <a:pt x="193811" y="246379"/>
                </a:lnTo>
                <a:lnTo>
                  <a:pt x="228062" y="218439"/>
                </a:lnTo>
                <a:lnTo>
                  <a:pt x="264617" y="193039"/>
                </a:lnTo>
                <a:lnTo>
                  <a:pt x="303369" y="167639"/>
                </a:lnTo>
                <a:lnTo>
                  <a:pt x="344209" y="143509"/>
                </a:lnTo>
                <a:lnTo>
                  <a:pt x="387030" y="121919"/>
                </a:lnTo>
                <a:lnTo>
                  <a:pt x="431724" y="101599"/>
                </a:lnTo>
                <a:lnTo>
                  <a:pt x="478183" y="82549"/>
                </a:lnTo>
                <a:lnTo>
                  <a:pt x="526298" y="66039"/>
                </a:lnTo>
                <a:lnTo>
                  <a:pt x="575963" y="50799"/>
                </a:lnTo>
                <a:lnTo>
                  <a:pt x="627069" y="38099"/>
                </a:lnTo>
                <a:lnTo>
                  <a:pt x="679508" y="26669"/>
                </a:lnTo>
                <a:lnTo>
                  <a:pt x="733173" y="16509"/>
                </a:lnTo>
                <a:lnTo>
                  <a:pt x="787956" y="8889"/>
                </a:lnTo>
                <a:lnTo>
                  <a:pt x="843747" y="3809"/>
                </a:lnTo>
                <a:lnTo>
                  <a:pt x="900441" y="0"/>
                </a:lnTo>
                <a:lnTo>
                  <a:pt x="1015416" y="0"/>
                </a:lnTo>
                <a:lnTo>
                  <a:pt x="1072110" y="3809"/>
                </a:lnTo>
                <a:lnTo>
                  <a:pt x="1127902" y="8889"/>
                </a:lnTo>
                <a:lnTo>
                  <a:pt x="1182684" y="16509"/>
                </a:lnTo>
                <a:lnTo>
                  <a:pt x="1192355" y="19049"/>
                </a:lnTo>
                <a:lnTo>
                  <a:pt x="957929" y="19049"/>
                </a:lnTo>
                <a:lnTo>
                  <a:pt x="957929" y="38099"/>
                </a:lnTo>
                <a:lnTo>
                  <a:pt x="898867" y="38099"/>
                </a:lnTo>
                <a:lnTo>
                  <a:pt x="840907" y="41909"/>
                </a:lnTo>
                <a:lnTo>
                  <a:pt x="784147" y="48259"/>
                </a:lnTo>
                <a:lnTo>
                  <a:pt x="728686" y="55879"/>
                </a:lnTo>
                <a:lnTo>
                  <a:pt x="674624" y="66039"/>
                </a:lnTo>
                <a:lnTo>
                  <a:pt x="622060" y="77469"/>
                </a:lnTo>
                <a:lnTo>
                  <a:pt x="571092" y="91439"/>
                </a:lnTo>
                <a:lnTo>
                  <a:pt x="521821" y="107949"/>
                </a:lnTo>
                <a:lnTo>
                  <a:pt x="474346" y="125729"/>
                </a:lnTo>
                <a:lnTo>
                  <a:pt x="428765" y="144779"/>
                </a:lnTo>
                <a:lnTo>
                  <a:pt x="385178" y="165099"/>
                </a:lnTo>
                <a:lnTo>
                  <a:pt x="343684" y="187959"/>
                </a:lnTo>
                <a:lnTo>
                  <a:pt x="304383" y="212089"/>
                </a:lnTo>
                <a:lnTo>
                  <a:pt x="267373" y="237489"/>
                </a:lnTo>
                <a:lnTo>
                  <a:pt x="232753" y="264159"/>
                </a:lnTo>
                <a:lnTo>
                  <a:pt x="200624" y="292099"/>
                </a:lnTo>
                <a:lnTo>
                  <a:pt x="171084" y="321309"/>
                </a:lnTo>
                <a:lnTo>
                  <a:pt x="144231" y="351789"/>
                </a:lnTo>
                <a:lnTo>
                  <a:pt x="120167" y="382269"/>
                </a:lnTo>
                <a:lnTo>
                  <a:pt x="98989" y="415289"/>
                </a:lnTo>
                <a:lnTo>
                  <a:pt x="65691" y="481329"/>
                </a:lnTo>
                <a:lnTo>
                  <a:pt x="45130" y="551179"/>
                </a:lnTo>
                <a:lnTo>
                  <a:pt x="39029" y="604519"/>
                </a:lnTo>
                <a:lnTo>
                  <a:pt x="19049" y="604519"/>
                </a:lnTo>
                <a:lnTo>
                  <a:pt x="11653" y="605789"/>
                </a:lnTo>
                <a:lnTo>
                  <a:pt x="5595" y="610869"/>
                </a:lnTo>
                <a:lnTo>
                  <a:pt x="1503" y="615949"/>
                </a:lnTo>
                <a:lnTo>
                  <a:pt x="0" y="623569"/>
                </a:lnTo>
                <a:close/>
              </a:path>
              <a:path w="1916430" h="1248410">
                <a:moveTo>
                  <a:pt x="1288788" y="1210309"/>
                </a:moveTo>
                <a:lnTo>
                  <a:pt x="957929" y="1210309"/>
                </a:lnTo>
                <a:lnTo>
                  <a:pt x="1016990" y="1209039"/>
                </a:lnTo>
                <a:lnTo>
                  <a:pt x="1074951" y="1205229"/>
                </a:lnTo>
                <a:lnTo>
                  <a:pt x="1131711" y="1200149"/>
                </a:lnTo>
                <a:lnTo>
                  <a:pt x="1187171" y="1192529"/>
                </a:lnTo>
                <a:lnTo>
                  <a:pt x="1241234" y="1182369"/>
                </a:lnTo>
                <a:lnTo>
                  <a:pt x="1293798" y="1169669"/>
                </a:lnTo>
                <a:lnTo>
                  <a:pt x="1344765" y="1155699"/>
                </a:lnTo>
                <a:lnTo>
                  <a:pt x="1394036" y="1140459"/>
                </a:lnTo>
                <a:lnTo>
                  <a:pt x="1441511" y="1122679"/>
                </a:lnTo>
                <a:lnTo>
                  <a:pt x="1487092" y="1103629"/>
                </a:lnTo>
                <a:lnTo>
                  <a:pt x="1530679" y="1082039"/>
                </a:lnTo>
                <a:lnTo>
                  <a:pt x="1572173" y="1060449"/>
                </a:lnTo>
                <a:lnTo>
                  <a:pt x="1611475" y="1036319"/>
                </a:lnTo>
                <a:lnTo>
                  <a:pt x="1648485" y="1010919"/>
                </a:lnTo>
                <a:lnTo>
                  <a:pt x="1683104" y="984249"/>
                </a:lnTo>
                <a:lnTo>
                  <a:pt x="1715233" y="956309"/>
                </a:lnTo>
                <a:lnTo>
                  <a:pt x="1744774" y="927099"/>
                </a:lnTo>
                <a:lnTo>
                  <a:pt x="1771626" y="896619"/>
                </a:lnTo>
                <a:lnTo>
                  <a:pt x="1795690" y="864869"/>
                </a:lnTo>
                <a:lnTo>
                  <a:pt x="1816868" y="833119"/>
                </a:lnTo>
                <a:lnTo>
                  <a:pt x="1850167" y="765809"/>
                </a:lnTo>
                <a:lnTo>
                  <a:pt x="1870728" y="695959"/>
                </a:lnTo>
                <a:lnTo>
                  <a:pt x="1877758" y="623569"/>
                </a:lnTo>
                <a:lnTo>
                  <a:pt x="1875984" y="588009"/>
                </a:lnTo>
                <a:lnTo>
                  <a:pt x="1862092" y="516889"/>
                </a:lnTo>
                <a:lnTo>
                  <a:pt x="1835068" y="448309"/>
                </a:lnTo>
                <a:lnTo>
                  <a:pt x="1795705" y="382269"/>
                </a:lnTo>
                <a:lnTo>
                  <a:pt x="1771645" y="351789"/>
                </a:lnTo>
                <a:lnTo>
                  <a:pt x="1744796" y="321309"/>
                </a:lnTo>
                <a:lnTo>
                  <a:pt x="1715259" y="292099"/>
                </a:lnTo>
                <a:lnTo>
                  <a:pt x="1683134" y="264159"/>
                </a:lnTo>
                <a:lnTo>
                  <a:pt x="1648517" y="237489"/>
                </a:lnTo>
                <a:lnTo>
                  <a:pt x="1611510" y="212089"/>
                </a:lnTo>
                <a:lnTo>
                  <a:pt x="1572211" y="187959"/>
                </a:lnTo>
                <a:lnTo>
                  <a:pt x="1530719" y="165099"/>
                </a:lnTo>
                <a:lnTo>
                  <a:pt x="1487134" y="144779"/>
                </a:lnTo>
                <a:lnTo>
                  <a:pt x="1441554" y="125729"/>
                </a:lnTo>
                <a:lnTo>
                  <a:pt x="1394078" y="107949"/>
                </a:lnTo>
                <a:lnTo>
                  <a:pt x="1344806" y="91439"/>
                </a:lnTo>
                <a:lnTo>
                  <a:pt x="1293837" y="77469"/>
                </a:lnTo>
                <a:lnTo>
                  <a:pt x="1241269" y="66039"/>
                </a:lnTo>
                <a:lnTo>
                  <a:pt x="1187203" y="55879"/>
                </a:lnTo>
                <a:lnTo>
                  <a:pt x="1131737" y="48259"/>
                </a:lnTo>
                <a:lnTo>
                  <a:pt x="1074969" y="41909"/>
                </a:lnTo>
                <a:lnTo>
                  <a:pt x="1017000" y="38099"/>
                </a:lnTo>
                <a:lnTo>
                  <a:pt x="957929" y="38099"/>
                </a:lnTo>
                <a:lnTo>
                  <a:pt x="957929" y="19049"/>
                </a:lnTo>
                <a:lnTo>
                  <a:pt x="1192355" y="19049"/>
                </a:lnTo>
                <a:lnTo>
                  <a:pt x="1236349" y="26669"/>
                </a:lnTo>
                <a:lnTo>
                  <a:pt x="1288788" y="38099"/>
                </a:lnTo>
                <a:lnTo>
                  <a:pt x="1339894" y="50799"/>
                </a:lnTo>
                <a:lnTo>
                  <a:pt x="1389559" y="66039"/>
                </a:lnTo>
                <a:lnTo>
                  <a:pt x="1437675" y="82549"/>
                </a:lnTo>
                <a:lnTo>
                  <a:pt x="1484133" y="101599"/>
                </a:lnTo>
                <a:lnTo>
                  <a:pt x="1528827" y="121919"/>
                </a:lnTo>
                <a:lnTo>
                  <a:pt x="1571648" y="143509"/>
                </a:lnTo>
                <a:lnTo>
                  <a:pt x="1612488" y="167639"/>
                </a:lnTo>
                <a:lnTo>
                  <a:pt x="1651240" y="193039"/>
                </a:lnTo>
                <a:lnTo>
                  <a:pt x="1687795" y="218439"/>
                </a:lnTo>
                <a:lnTo>
                  <a:pt x="1722046" y="246379"/>
                </a:lnTo>
                <a:lnTo>
                  <a:pt x="1753885" y="275589"/>
                </a:lnTo>
                <a:lnTo>
                  <a:pt x="1783203" y="306069"/>
                </a:lnTo>
                <a:lnTo>
                  <a:pt x="1809893" y="336549"/>
                </a:lnTo>
                <a:lnTo>
                  <a:pt x="1833848" y="369569"/>
                </a:lnTo>
                <a:lnTo>
                  <a:pt x="1854958" y="403859"/>
                </a:lnTo>
                <a:lnTo>
                  <a:pt x="1873117" y="438149"/>
                </a:lnTo>
                <a:lnTo>
                  <a:pt x="1888216" y="473709"/>
                </a:lnTo>
                <a:lnTo>
                  <a:pt x="1908804" y="547369"/>
                </a:lnTo>
                <a:lnTo>
                  <a:pt x="1914076" y="585469"/>
                </a:lnTo>
                <a:lnTo>
                  <a:pt x="1915858" y="623569"/>
                </a:lnTo>
                <a:lnTo>
                  <a:pt x="1914191" y="660399"/>
                </a:lnTo>
                <a:lnTo>
                  <a:pt x="1908804" y="701039"/>
                </a:lnTo>
                <a:lnTo>
                  <a:pt x="1888216" y="774699"/>
                </a:lnTo>
                <a:lnTo>
                  <a:pt x="1873117" y="810259"/>
                </a:lnTo>
                <a:lnTo>
                  <a:pt x="1854958" y="844549"/>
                </a:lnTo>
                <a:lnTo>
                  <a:pt x="1833848" y="877569"/>
                </a:lnTo>
                <a:lnTo>
                  <a:pt x="1809893" y="910589"/>
                </a:lnTo>
                <a:lnTo>
                  <a:pt x="1783203" y="942339"/>
                </a:lnTo>
                <a:lnTo>
                  <a:pt x="1753885" y="972819"/>
                </a:lnTo>
                <a:lnTo>
                  <a:pt x="1722046" y="1000759"/>
                </a:lnTo>
                <a:lnTo>
                  <a:pt x="1687795" y="1028699"/>
                </a:lnTo>
                <a:lnTo>
                  <a:pt x="1651240" y="1055369"/>
                </a:lnTo>
                <a:lnTo>
                  <a:pt x="1612488" y="1080769"/>
                </a:lnTo>
                <a:lnTo>
                  <a:pt x="1571648" y="1103629"/>
                </a:lnTo>
                <a:lnTo>
                  <a:pt x="1528827" y="1125219"/>
                </a:lnTo>
                <a:lnTo>
                  <a:pt x="1484133" y="1145539"/>
                </a:lnTo>
                <a:lnTo>
                  <a:pt x="1437675" y="1164589"/>
                </a:lnTo>
                <a:lnTo>
                  <a:pt x="1389559" y="1181099"/>
                </a:lnTo>
                <a:lnTo>
                  <a:pt x="1339894" y="1196339"/>
                </a:lnTo>
                <a:lnTo>
                  <a:pt x="1288788" y="1210309"/>
                </a:lnTo>
                <a:close/>
              </a:path>
              <a:path w="1916430" h="1248410">
                <a:moveTo>
                  <a:pt x="19049" y="642619"/>
                </a:moveTo>
                <a:lnTo>
                  <a:pt x="11653" y="641349"/>
                </a:lnTo>
                <a:lnTo>
                  <a:pt x="5595" y="637539"/>
                </a:lnTo>
                <a:lnTo>
                  <a:pt x="1503" y="631189"/>
                </a:lnTo>
                <a:lnTo>
                  <a:pt x="0" y="623569"/>
                </a:lnTo>
                <a:lnTo>
                  <a:pt x="1503" y="615949"/>
                </a:lnTo>
                <a:lnTo>
                  <a:pt x="5595" y="610869"/>
                </a:lnTo>
                <a:lnTo>
                  <a:pt x="11653" y="605789"/>
                </a:lnTo>
                <a:lnTo>
                  <a:pt x="19049" y="604519"/>
                </a:lnTo>
                <a:lnTo>
                  <a:pt x="26446" y="605789"/>
                </a:lnTo>
                <a:lnTo>
                  <a:pt x="32504" y="610869"/>
                </a:lnTo>
                <a:lnTo>
                  <a:pt x="36596" y="615949"/>
                </a:lnTo>
                <a:lnTo>
                  <a:pt x="38099" y="623569"/>
                </a:lnTo>
                <a:lnTo>
                  <a:pt x="36596" y="631189"/>
                </a:lnTo>
                <a:lnTo>
                  <a:pt x="32504" y="637539"/>
                </a:lnTo>
                <a:lnTo>
                  <a:pt x="26446" y="641349"/>
                </a:lnTo>
                <a:lnTo>
                  <a:pt x="19049" y="642619"/>
                </a:lnTo>
                <a:close/>
              </a:path>
              <a:path w="1916430" h="1248410">
                <a:moveTo>
                  <a:pt x="38099" y="623569"/>
                </a:moveTo>
                <a:lnTo>
                  <a:pt x="36596" y="615949"/>
                </a:lnTo>
                <a:lnTo>
                  <a:pt x="32504" y="610869"/>
                </a:lnTo>
                <a:lnTo>
                  <a:pt x="26446" y="605789"/>
                </a:lnTo>
                <a:lnTo>
                  <a:pt x="19049" y="604519"/>
                </a:lnTo>
                <a:lnTo>
                  <a:pt x="39029" y="604519"/>
                </a:lnTo>
                <a:lnTo>
                  <a:pt x="38099" y="623569"/>
                </a:lnTo>
                <a:close/>
              </a:path>
              <a:path w="1916430" h="1248410">
                <a:moveTo>
                  <a:pt x="957929" y="1248409"/>
                </a:moveTo>
                <a:lnTo>
                  <a:pt x="900441" y="1247139"/>
                </a:lnTo>
                <a:lnTo>
                  <a:pt x="843747" y="1244599"/>
                </a:lnTo>
                <a:lnTo>
                  <a:pt x="787956" y="1238249"/>
                </a:lnTo>
                <a:lnTo>
                  <a:pt x="733173" y="1230629"/>
                </a:lnTo>
                <a:lnTo>
                  <a:pt x="679508" y="1221739"/>
                </a:lnTo>
                <a:lnTo>
                  <a:pt x="627069" y="1210309"/>
                </a:lnTo>
                <a:lnTo>
                  <a:pt x="575963" y="1196339"/>
                </a:lnTo>
                <a:lnTo>
                  <a:pt x="526298" y="1181099"/>
                </a:lnTo>
                <a:lnTo>
                  <a:pt x="478183" y="1164589"/>
                </a:lnTo>
                <a:lnTo>
                  <a:pt x="431724" y="1145539"/>
                </a:lnTo>
                <a:lnTo>
                  <a:pt x="387030" y="1125219"/>
                </a:lnTo>
                <a:lnTo>
                  <a:pt x="344209" y="1103629"/>
                </a:lnTo>
                <a:lnTo>
                  <a:pt x="303369" y="1080769"/>
                </a:lnTo>
                <a:lnTo>
                  <a:pt x="264617" y="1055369"/>
                </a:lnTo>
                <a:lnTo>
                  <a:pt x="228062" y="1028699"/>
                </a:lnTo>
                <a:lnTo>
                  <a:pt x="193811" y="1000759"/>
                </a:lnTo>
                <a:lnTo>
                  <a:pt x="161973" y="972819"/>
                </a:lnTo>
                <a:lnTo>
                  <a:pt x="132655" y="942339"/>
                </a:lnTo>
                <a:lnTo>
                  <a:pt x="105964" y="910589"/>
                </a:lnTo>
                <a:lnTo>
                  <a:pt x="82010" y="877569"/>
                </a:lnTo>
                <a:lnTo>
                  <a:pt x="60899" y="844549"/>
                </a:lnTo>
                <a:lnTo>
                  <a:pt x="42741" y="810259"/>
                </a:lnTo>
                <a:lnTo>
                  <a:pt x="27642" y="774699"/>
                </a:lnTo>
                <a:lnTo>
                  <a:pt x="15710" y="737869"/>
                </a:lnTo>
                <a:lnTo>
                  <a:pt x="1781" y="662939"/>
                </a:lnTo>
                <a:lnTo>
                  <a:pt x="0" y="623569"/>
                </a:lnTo>
                <a:lnTo>
                  <a:pt x="1503" y="631189"/>
                </a:lnTo>
                <a:lnTo>
                  <a:pt x="5595" y="637539"/>
                </a:lnTo>
                <a:lnTo>
                  <a:pt x="11653" y="641349"/>
                </a:lnTo>
                <a:lnTo>
                  <a:pt x="19049" y="642619"/>
                </a:lnTo>
                <a:lnTo>
                  <a:pt x="39029" y="642619"/>
                </a:lnTo>
                <a:lnTo>
                  <a:pt x="39874" y="660399"/>
                </a:lnTo>
                <a:lnTo>
                  <a:pt x="53768" y="731519"/>
                </a:lnTo>
                <a:lnTo>
                  <a:pt x="80797" y="800099"/>
                </a:lnTo>
                <a:lnTo>
                  <a:pt x="120167" y="864869"/>
                </a:lnTo>
                <a:lnTo>
                  <a:pt x="144231" y="896619"/>
                </a:lnTo>
                <a:lnTo>
                  <a:pt x="171084" y="927099"/>
                </a:lnTo>
                <a:lnTo>
                  <a:pt x="200624" y="956309"/>
                </a:lnTo>
                <a:lnTo>
                  <a:pt x="232753" y="984249"/>
                </a:lnTo>
                <a:lnTo>
                  <a:pt x="267373" y="1010919"/>
                </a:lnTo>
                <a:lnTo>
                  <a:pt x="304383" y="1036319"/>
                </a:lnTo>
                <a:lnTo>
                  <a:pt x="343684" y="1060449"/>
                </a:lnTo>
                <a:lnTo>
                  <a:pt x="385178" y="1082039"/>
                </a:lnTo>
                <a:lnTo>
                  <a:pt x="428765" y="1103629"/>
                </a:lnTo>
                <a:lnTo>
                  <a:pt x="474346" y="1122679"/>
                </a:lnTo>
                <a:lnTo>
                  <a:pt x="521821" y="1140459"/>
                </a:lnTo>
                <a:lnTo>
                  <a:pt x="571092" y="1155699"/>
                </a:lnTo>
                <a:lnTo>
                  <a:pt x="622060" y="1169669"/>
                </a:lnTo>
                <a:lnTo>
                  <a:pt x="674624" y="1182369"/>
                </a:lnTo>
                <a:lnTo>
                  <a:pt x="728686" y="1192529"/>
                </a:lnTo>
                <a:lnTo>
                  <a:pt x="784147" y="1200149"/>
                </a:lnTo>
                <a:lnTo>
                  <a:pt x="840907" y="1205229"/>
                </a:lnTo>
                <a:lnTo>
                  <a:pt x="898867" y="1209039"/>
                </a:lnTo>
                <a:lnTo>
                  <a:pt x="957929" y="1210309"/>
                </a:lnTo>
                <a:lnTo>
                  <a:pt x="1287881" y="1210309"/>
                </a:lnTo>
                <a:lnTo>
                  <a:pt x="1236349" y="1221739"/>
                </a:lnTo>
                <a:lnTo>
                  <a:pt x="1192355" y="1229359"/>
                </a:lnTo>
                <a:lnTo>
                  <a:pt x="957929" y="1229359"/>
                </a:lnTo>
                <a:lnTo>
                  <a:pt x="957929" y="1248409"/>
                </a:lnTo>
                <a:close/>
              </a:path>
              <a:path w="1916430" h="1248410">
                <a:moveTo>
                  <a:pt x="39029" y="642619"/>
                </a:moveTo>
                <a:lnTo>
                  <a:pt x="19049" y="642619"/>
                </a:lnTo>
                <a:lnTo>
                  <a:pt x="26446" y="641349"/>
                </a:lnTo>
                <a:lnTo>
                  <a:pt x="32504" y="637539"/>
                </a:lnTo>
                <a:lnTo>
                  <a:pt x="36596" y="631189"/>
                </a:lnTo>
                <a:lnTo>
                  <a:pt x="38099" y="623569"/>
                </a:lnTo>
                <a:lnTo>
                  <a:pt x="38967" y="641349"/>
                </a:lnTo>
                <a:lnTo>
                  <a:pt x="39029" y="642619"/>
                </a:lnTo>
                <a:close/>
              </a:path>
              <a:path w="1916430" h="1248410">
                <a:moveTo>
                  <a:pt x="957929" y="1248409"/>
                </a:moveTo>
                <a:lnTo>
                  <a:pt x="957929" y="1229359"/>
                </a:lnTo>
                <a:lnTo>
                  <a:pt x="1192355" y="1229359"/>
                </a:lnTo>
                <a:lnTo>
                  <a:pt x="1127902" y="1238249"/>
                </a:lnTo>
                <a:lnTo>
                  <a:pt x="1072110" y="1244599"/>
                </a:lnTo>
                <a:lnTo>
                  <a:pt x="1015416" y="1247139"/>
                </a:lnTo>
                <a:lnTo>
                  <a:pt x="957929" y="1248409"/>
                </a:lnTo>
                <a:close/>
              </a:path>
            </a:pathLst>
          </a:custGeom>
          <a:solidFill>
            <a:srgbClr val="8064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473693" y="1815746"/>
            <a:ext cx="5360035" cy="3050258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350645" marR="732790" indent="-610235">
              <a:lnSpc>
                <a:spcPts val="2850"/>
              </a:lnSpc>
              <a:spcBef>
                <a:spcPts val="219"/>
              </a:spcBef>
            </a:pPr>
            <a:r>
              <a:rPr sz="2400" b="1" i="1" dirty="0">
                <a:latin typeface="Arial"/>
                <a:cs typeface="Arial"/>
              </a:rPr>
              <a:t>Detailed</a:t>
            </a:r>
            <a:r>
              <a:rPr sz="2400" b="1" i="1" spc="-35" dirty="0">
                <a:latin typeface="Arial"/>
                <a:cs typeface="Arial"/>
              </a:rPr>
              <a:t> </a:t>
            </a:r>
            <a:r>
              <a:rPr sz="2400" b="1" i="1" dirty="0">
                <a:latin typeface="Arial"/>
                <a:cs typeface="Arial"/>
              </a:rPr>
              <a:t>explanation</a:t>
            </a:r>
            <a:r>
              <a:rPr sz="2400" b="1" i="1" spc="-30" dirty="0">
                <a:latin typeface="Arial"/>
                <a:cs typeface="Arial"/>
              </a:rPr>
              <a:t> </a:t>
            </a:r>
            <a:r>
              <a:rPr sz="2400" b="1" i="1" dirty="0">
                <a:latin typeface="Arial"/>
                <a:cs typeface="Arial"/>
              </a:rPr>
              <a:t>of</a:t>
            </a:r>
            <a:r>
              <a:rPr sz="2400" b="1" i="1" spc="-30" dirty="0">
                <a:latin typeface="Arial"/>
                <a:cs typeface="Arial"/>
              </a:rPr>
              <a:t> </a:t>
            </a:r>
            <a:r>
              <a:rPr sz="2400" b="1" i="1" spc="-25" dirty="0">
                <a:latin typeface="Arial"/>
                <a:cs typeface="Arial"/>
              </a:rPr>
              <a:t>the </a:t>
            </a:r>
            <a:r>
              <a:rPr sz="2400" b="1" i="1" dirty="0">
                <a:latin typeface="Arial"/>
                <a:cs typeface="Arial"/>
              </a:rPr>
              <a:t>proposed </a:t>
            </a:r>
            <a:r>
              <a:rPr sz="2400" b="1" i="1" spc="-10" dirty="0">
                <a:latin typeface="Arial"/>
                <a:cs typeface="Arial"/>
              </a:rPr>
              <a:t>solution</a:t>
            </a:r>
            <a:endParaRPr lang="en-IN" sz="2400" b="1" i="1" spc="-10" dirty="0">
              <a:latin typeface="Arial"/>
              <a:cs typeface="Arial"/>
            </a:endParaRPr>
          </a:p>
          <a:p>
            <a:pPr marL="1350645" marR="732790" indent="-610235">
              <a:lnSpc>
                <a:spcPts val="2850"/>
              </a:lnSpc>
              <a:spcBef>
                <a:spcPts val="219"/>
              </a:spcBef>
            </a:pPr>
            <a:endParaRPr sz="2400" dirty="0">
              <a:latin typeface="Arial"/>
              <a:cs typeface="Arial"/>
            </a:endParaRPr>
          </a:p>
          <a:p>
            <a:pPr marL="12700" marR="5080" indent="544830">
              <a:lnSpc>
                <a:spcPct val="100000"/>
              </a:lnSpc>
              <a:spcBef>
                <a:spcPts val="145"/>
              </a:spcBef>
            </a:pPr>
            <a:r>
              <a:rPr lang="en-IN" sz="2000" b="1" u="sng" dirty="0">
                <a:solidFill>
                  <a:srgbClr val="0070C0"/>
                </a:solidFill>
                <a:latin typeface="Arial MT"/>
              </a:rPr>
              <a:t>AI for Inclusive Government Schemes</a:t>
            </a:r>
            <a:endParaRPr lang="en-IN" sz="2000" b="1" i="1" u="sng" spc="-20" dirty="0">
              <a:solidFill>
                <a:srgbClr val="0070C0"/>
              </a:solidFill>
              <a:uFill>
                <a:solidFill>
                  <a:srgbClr val="4866BE"/>
                </a:solidFill>
              </a:uFill>
              <a:latin typeface="Arial MT"/>
              <a:cs typeface="Arial"/>
            </a:endParaRPr>
          </a:p>
          <a:p>
            <a:pPr marL="12700" marR="5080" indent="544830">
              <a:lnSpc>
                <a:spcPct val="128600"/>
              </a:lnSpc>
              <a:spcBef>
                <a:spcPts val="145"/>
              </a:spcBef>
            </a:pPr>
            <a:r>
              <a:rPr lang="en-US" sz="2000" dirty="0">
                <a:latin typeface="Arial MT"/>
                <a:cs typeface="Arial MT"/>
              </a:rPr>
              <a:t>An AI-driven multilingual platform that helps marginalized entrepreneurs identify suitable government financial schemes and take the correct next step.</a:t>
            </a:r>
            <a:endParaRPr sz="2000" dirty="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936771" y="1753296"/>
            <a:ext cx="43618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i="1" dirty="0">
                <a:latin typeface="Arial"/>
                <a:cs typeface="Arial"/>
              </a:rPr>
              <a:t>How</a:t>
            </a:r>
            <a:r>
              <a:rPr sz="2400" b="1" i="1" spc="-30" dirty="0">
                <a:latin typeface="Arial"/>
                <a:cs typeface="Arial"/>
              </a:rPr>
              <a:t> </a:t>
            </a:r>
            <a:r>
              <a:rPr sz="2400" b="1" i="1" dirty="0">
                <a:latin typeface="Arial"/>
                <a:cs typeface="Arial"/>
              </a:rPr>
              <a:t>it</a:t>
            </a:r>
            <a:r>
              <a:rPr sz="2400" b="1" i="1" spc="-30" dirty="0">
                <a:latin typeface="Arial"/>
                <a:cs typeface="Arial"/>
              </a:rPr>
              <a:t> </a:t>
            </a:r>
            <a:r>
              <a:rPr sz="2400" b="1" i="1" dirty="0">
                <a:latin typeface="Arial"/>
                <a:cs typeface="Arial"/>
              </a:rPr>
              <a:t>addresses</a:t>
            </a:r>
            <a:r>
              <a:rPr sz="2400" b="1" i="1" spc="-30" dirty="0">
                <a:latin typeface="Arial"/>
                <a:cs typeface="Arial"/>
              </a:rPr>
              <a:t> </a:t>
            </a:r>
            <a:r>
              <a:rPr sz="2400" b="1" i="1" dirty="0">
                <a:latin typeface="Arial"/>
                <a:cs typeface="Arial"/>
              </a:rPr>
              <a:t>the</a:t>
            </a:r>
            <a:r>
              <a:rPr sz="2400" b="1" i="1" spc="-30" dirty="0">
                <a:latin typeface="Arial"/>
                <a:cs typeface="Arial"/>
              </a:rPr>
              <a:t> </a:t>
            </a:r>
            <a:r>
              <a:rPr sz="2400" b="1" i="1" spc="-10" dirty="0">
                <a:latin typeface="Arial"/>
                <a:cs typeface="Arial"/>
              </a:rPr>
              <a:t>problem</a:t>
            </a:r>
            <a:endParaRPr sz="24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936771" y="2664521"/>
            <a:ext cx="4928870" cy="56186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 sz="2000" b="1" dirty="0"/>
              <a:t>Unified database:</a:t>
            </a:r>
            <a:r>
              <a:rPr lang="en-IN" sz="2000" dirty="0"/>
              <a:t> All central, state, and district schemes in one updated place.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 sz="2000" b="1" dirty="0"/>
              <a:t>Easy profile input:</a:t>
            </a:r>
            <a:r>
              <a:rPr lang="en-IN" sz="2000" dirty="0"/>
              <a:t> Short form, chat, or voice in regional languages.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 sz="2000" b="1" dirty="0"/>
              <a:t>AI eligibility matching:</a:t>
            </a:r>
            <a:r>
              <a:rPr lang="en-IN" sz="2000" dirty="0"/>
              <a:t> Ranked list of best-fit schemes with reasons.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 sz="2000" b="1" dirty="0"/>
              <a:t>Multilingual voice/chat:</a:t>
            </a:r>
            <a:r>
              <a:rPr lang="en-IN" sz="2000" dirty="0"/>
              <a:t> Chatbot, WhatsApp, and IVR for low-literacy users.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 sz="2000" b="1" dirty="0"/>
              <a:t>Application guidance:</a:t>
            </a:r>
            <a:r>
              <a:rPr lang="en-IN" sz="2000" dirty="0"/>
              <a:t> Document checklist, deadlines, and direct portal links.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 sz="2000" b="1" dirty="0"/>
              <a:t>Alerts and tracking:</a:t>
            </a:r>
            <a:r>
              <a:rPr lang="en-IN" sz="2000" dirty="0"/>
              <a:t> Updates on new schemes, deadlines, and application status.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 sz="2000" b="1" dirty="0"/>
              <a:t>Assisted access:</a:t>
            </a:r>
            <a:r>
              <a:rPr lang="en-IN" sz="2000" dirty="0"/>
              <a:t> Dashboard for NGOs and CSCs to help offline users.</a:t>
            </a:r>
          </a:p>
          <a:p>
            <a:pPr marL="12700" marR="5080" algn="just">
              <a:lnSpc>
                <a:spcPct val="131300"/>
              </a:lnSpc>
              <a:spcBef>
                <a:spcPts val="100"/>
              </a:spcBef>
            </a:pPr>
            <a:endParaRPr sz="2000" dirty="0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2746537" y="1815746"/>
            <a:ext cx="4928870" cy="7055777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342390" marR="513080" indent="-1253490">
              <a:lnSpc>
                <a:spcPts val="2850"/>
              </a:lnSpc>
              <a:spcBef>
                <a:spcPts val="219"/>
              </a:spcBef>
            </a:pPr>
            <a:r>
              <a:rPr sz="2400" b="1" i="1" dirty="0">
                <a:latin typeface="Arial"/>
                <a:cs typeface="Arial"/>
              </a:rPr>
              <a:t>Innovation and uniqueness </a:t>
            </a:r>
            <a:r>
              <a:rPr sz="2400" b="1" i="1" spc="-25" dirty="0">
                <a:latin typeface="Arial"/>
                <a:cs typeface="Arial"/>
              </a:rPr>
              <a:t>of </a:t>
            </a:r>
            <a:r>
              <a:rPr sz="2400" b="1" i="1" dirty="0">
                <a:latin typeface="Arial"/>
                <a:cs typeface="Arial"/>
              </a:rPr>
              <a:t>the </a:t>
            </a:r>
            <a:r>
              <a:rPr sz="2400" b="1" i="1" spc="-10" dirty="0">
                <a:latin typeface="Arial"/>
                <a:cs typeface="Arial"/>
              </a:rPr>
              <a:t>solution</a:t>
            </a:r>
            <a:endParaRPr sz="2400" dirty="0">
              <a:latin typeface="Arial"/>
              <a:cs typeface="Arial"/>
            </a:endParaRP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 sz="2000" b="1" dirty="0"/>
              <a:t>Proactive matching:</a:t>
            </a:r>
            <a:r>
              <a:rPr lang="en-IN" sz="2000" dirty="0"/>
              <a:t> AI finds schemes for users, no portal hunting.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 sz="2000" b="1" dirty="0"/>
              <a:t>Explainable results:</a:t>
            </a:r>
            <a:r>
              <a:rPr lang="en-IN" sz="2000" dirty="0"/>
              <a:t> Match score with clear "why you qualify" reasons.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 sz="2000" b="1" dirty="0"/>
              <a:t>Hybrid AI:</a:t>
            </a:r>
            <a:r>
              <a:rPr lang="en-IN" sz="2000" dirty="0"/>
              <a:t> Rule-based accuracy plus NLP for messy scheme documents.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 sz="2000" b="1" dirty="0"/>
              <a:t>Voice-first, vernacular:</a:t>
            </a:r>
            <a:r>
              <a:rPr lang="en-IN" sz="2000" dirty="0"/>
              <a:t> Regional languages via voice, WhatsApp, and IVR.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 sz="2000" b="1" dirty="0"/>
              <a:t>Auto-updating database:</a:t>
            </a:r>
            <a:r>
              <a:rPr lang="en-IN" sz="2000" dirty="0"/>
              <a:t> AI extracts scheme details from official notifications.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 sz="2000" b="1" dirty="0"/>
              <a:t>End-to-end journey:</a:t>
            </a:r>
            <a:r>
              <a:rPr lang="en-IN" sz="2000" dirty="0"/>
              <a:t> Discovery, documents, applying, alerts, and tracking in one place.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 sz="2000" b="1" dirty="0"/>
              <a:t>Human-in-the-loop:</a:t>
            </a:r>
            <a:r>
              <a:rPr lang="en-IN" sz="2000" dirty="0"/>
              <a:t> NGOs and CSCs assist offline users.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 sz="2000" b="1" dirty="0"/>
              <a:t>Data-driven inclusion:</a:t>
            </a:r>
            <a:r>
              <a:rPr lang="en-IN" sz="2000" dirty="0"/>
              <a:t> Analytics show underserved communities for better outreach.</a:t>
            </a: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endParaRPr sz="2000" dirty="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34001" y="5182129"/>
            <a:ext cx="5360035" cy="2228174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sz="2000" b="1" dirty="0">
                <a:latin typeface="Arial"/>
                <a:cs typeface="Arial"/>
              </a:rPr>
              <a:t>Our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Solution</a:t>
            </a:r>
            <a:r>
              <a:rPr sz="2000" spc="-10" dirty="0">
                <a:latin typeface="Arial MT"/>
                <a:cs typeface="Arial MT"/>
              </a:rPr>
              <a:t>:</a:t>
            </a:r>
            <a:endParaRPr lang="en-US" sz="20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lang="en-US" sz="2000" dirty="0">
                <a:latin typeface="Arial MT"/>
                <a:cs typeface="Arial MT"/>
              </a:rPr>
              <a:t>AI-based platform to:</a:t>
            </a:r>
          </a:p>
          <a:p>
            <a:pPr marL="355600" indent="-342900">
              <a:lnSpc>
                <a:spcPct val="100000"/>
              </a:lnSpc>
              <a:spcBef>
                <a:spcPts val="475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Arial MT"/>
                <a:cs typeface="Arial MT"/>
              </a:rPr>
              <a:t> Match users with suitable schemes</a:t>
            </a:r>
          </a:p>
          <a:p>
            <a:pPr marL="355600" indent="-342900">
              <a:lnSpc>
                <a:spcPct val="100000"/>
              </a:lnSpc>
              <a:spcBef>
                <a:spcPts val="475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Arial MT"/>
                <a:cs typeface="Arial MT"/>
              </a:rPr>
              <a:t> Calculate financial/EMI details</a:t>
            </a:r>
          </a:p>
          <a:p>
            <a:pPr marL="355600" indent="-342900">
              <a:lnSpc>
                <a:spcPct val="100000"/>
              </a:lnSpc>
              <a:spcBef>
                <a:spcPts val="475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Arial MT"/>
                <a:cs typeface="Arial MT"/>
              </a:rPr>
              <a:t> Route them to the right channel partner</a:t>
            </a:r>
          </a:p>
          <a:p>
            <a:pPr marL="355600" indent="-342900">
              <a:lnSpc>
                <a:spcPct val="100000"/>
              </a:lnSpc>
              <a:spcBef>
                <a:spcPts val="475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Arial MT"/>
                <a:cs typeface="Arial MT"/>
              </a:rPr>
              <a:t> Support regional languages</a:t>
            </a:r>
            <a:endParaRPr sz="2000" dirty="0">
              <a:latin typeface="Arial MT"/>
              <a:cs typeface="Arial MT"/>
            </a:endParaRPr>
          </a:p>
        </p:txBody>
      </p:sp>
      <p:sp>
        <p:nvSpPr>
          <p:cNvPr id="35" name="object 3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760"/>
              </a:lnSpc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4684BA8-44BB-5239-5754-EFE908D3FBB5}"/>
              </a:ext>
            </a:extLst>
          </p:cNvPr>
          <p:cNvSpPr txBox="1"/>
          <p:nvPr/>
        </p:nvSpPr>
        <p:spPr>
          <a:xfrm>
            <a:off x="591168" y="479723"/>
            <a:ext cx="170688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/>
              <a:t>OFF BY ONE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98BA466-939F-9D6C-184A-20EE588F4A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393" y="8099051"/>
            <a:ext cx="11525250" cy="933450"/>
          </a:xfrm>
          <a:prstGeom prst="rect">
            <a:avLst/>
          </a:prstGeom>
        </p:spPr>
      </p:pic>
      <p:pic>
        <p:nvPicPr>
          <p:cNvPr id="4" name="Picture 3" descr="A logo with text and a green light bulb&#10;&#10;AI-generated content may be incorrect.">
            <a:extLst>
              <a:ext uri="{FF2B5EF4-FFF2-40B4-BE49-F238E27FC236}">
                <a16:creationId xmlns:a16="http://schemas.microsoft.com/office/drawing/2014/main" id="{9DA1E8B1-CF15-B62A-D6C9-AB735D76D3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68600" y="337068"/>
            <a:ext cx="2403147" cy="11440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5153" rIns="0" bIns="0" rtlCol="0">
            <a:spAutoFit/>
          </a:bodyPr>
          <a:lstStyle/>
          <a:p>
            <a:pPr marL="2741295">
              <a:lnSpc>
                <a:spcPct val="100000"/>
              </a:lnSpc>
              <a:spcBef>
                <a:spcPts val="100"/>
              </a:spcBef>
            </a:pPr>
            <a:r>
              <a:rPr dirty="0"/>
              <a:t>TECHNICAL</a:t>
            </a:r>
            <a:r>
              <a:rPr spc="305" dirty="0"/>
              <a:t> </a:t>
            </a:r>
            <a:r>
              <a:rPr spc="95" dirty="0"/>
              <a:t>APPROACH</a:t>
            </a:r>
          </a:p>
        </p:txBody>
      </p:sp>
      <p:sp>
        <p:nvSpPr>
          <p:cNvPr id="3" name="object 3"/>
          <p:cNvSpPr/>
          <p:nvPr/>
        </p:nvSpPr>
        <p:spPr>
          <a:xfrm>
            <a:off x="451239" y="303246"/>
            <a:ext cx="1916430" cy="1248410"/>
          </a:xfrm>
          <a:custGeom>
            <a:avLst/>
            <a:gdLst/>
            <a:ahLst/>
            <a:cxnLst/>
            <a:rect l="l" t="t" r="r" b="b"/>
            <a:pathLst>
              <a:path w="1916430" h="1248410">
                <a:moveTo>
                  <a:pt x="0" y="623569"/>
                </a:moveTo>
                <a:lnTo>
                  <a:pt x="1662" y="588009"/>
                </a:lnTo>
                <a:lnTo>
                  <a:pt x="1781" y="585469"/>
                </a:lnTo>
                <a:lnTo>
                  <a:pt x="7054" y="547369"/>
                </a:lnTo>
                <a:lnTo>
                  <a:pt x="15710" y="509269"/>
                </a:lnTo>
                <a:lnTo>
                  <a:pt x="42741" y="438149"/>
                </a:lnTo>
                <a:lnTo>
                  <a:pt x="60899" y="403859"/>
                </a:lnTo>
                <a:lnTo>
                  <a:pt x="82010" y="369569"/>
                </a:lnTo>
                <a:lnTo>
                  <a:pt x="105964" y="336549"/>
                </a:lnTo>
                <a:lnTo>
                  <a:pt x="132655" y="306069"/>
                </a:lnTo>
                <a:lnTo>
                  <a:pt x="161973" y="275589"/>
                </a:lnTo>
                <a:lnTo>
                  <a:pt x="193811" y="246379"/>
                </a:lnTo>
                <a:lnTo>
                  <a:pt x="228062" y="218439"/>
                </a:lnTo>
                <a:lnTo>
                  <a:pt x="264617" y="193039"/>
                </a:lnTo>
                <a:lnTo>
                  <a:pt x="303369" y="167639"/>
                </a:lnTo>
                <a:lnTo>
                  <a:pt x="344209" y="143509"/>
                </a:lnTo>
                <a:lnTo>
                  <a:pt x="387030" y="121919"/>
                </a:lnTo>
                <a:lnTo>
                  <a:pt x="431724" y="101599"/>
                </a:lnTo>
                <a:lnTo>
                  <a:pt x="478183" y="82549"/>
                </a:lnTo>
                <a:lnTo>
                  <a:pt x="526298" y="66039"/>
                </a:lnTo>
                <a:lnTo>
                  <a:pt x="575963" y="50799"/>
                </a:lnTo>
                <a:lnTo>
                  <a:pt x="627069" y="38099"/>
                </a:lnTo>
                <a:lnTo>
                  <a:pt x="679509" y="26669"/>
                </a:lnTo>
                <a:lnTo>
                  <a:pt x="733173" y="16509"/>
                </a:lnTo>
                <a:lnTo>
                  <a:pt x="787956" y="8889"/>
                </a:lnTo>
                <a:lnTo>
                  <a:pt x="843748" y="3809"/>
                </a:lnTo>
                <a:lnTo>
                  <a:pt x="900441" y="0"/>
                </a:lnTo>
                <a:lnTo>
                  <a:pt x="1015416" y="0"/>
                </a:lnTo>
                <a:lnTo>
                  <a:pt x="1072110" y="3809"/>
                </a:lnTo>
                <a:lnTo>
                  <a:pt x="1127902" y="8889"/>
                </a:lnTo>
                <a:lnTo>
                  <a:pt x="1182684" y="16509"/>
                </a:lnTo>
                <a:lnTo>
                  <a:pt x="1192355" y="19049"/>
                </a:lnTo>
                <a:lnTo>
                  <a:pt x="957929" y="19049"/>
                </a:lnTo>
                <a:lnTo>
                  <a:pt x="957929" y="38099"/>
                </a:lnTo>
                <a:lnTo>
                  <a:pt x="898867" y="38099"/>
                </a:lnTo>
                <a:lnTo>
                  <a:pt x="840907" y="41909"/>
                </a:lnTo>
                <a:lnTo>
                  <a:pt x="784147" y="48259"/>
                </a:lnTo>
                <a:lnTo>
                  <a:pt x="728686" y="55879"/>
                </a:lnTo>
                <a:lnTo>
                  <a:pt x="674624" y="66039"/>
                </a:lnTo>
                <a:lnTo>
                  <a:pt x="622060" y="77469"/>
                </a:lnTo>
                <a:lnTo>
                  <a:pt x="571092" y="91439"/>
                </a:lnTo>
                <a:lnTo>
                  <a:pt x="521821" y="107949"/>
                </a:lnTo>
                <a:lnTo>
                  <a:pt x="474346" y="125729"/>
                </a:lnTo>
                <a:lnTo>
                  <a:pt x="428765" y="144779"/>
                </a:lnTo>
                <a:lnTo>
                  <a:pt x="385178" y="165099"/>
                </a:lnTo>
                <a:lnTo>
                  <a:pt x="343684" y="187959"/>
                </a:lnTo>
                <a:lnTo>
                  <a:pt x="304383" y="212089"/>
                </a:lnTo>
                <a:lnTo>
                  <a:pt x="267373" y="237489"/>
                </a:lnTo>
                <a:lnTo>
                  <a:pt x="232753" y="264159"/>
                </a:lnTo>
                <a:lnTo>
                  <a:pt x="200624" y="292099"/>
                </a:lnTo>
                <a:lnTo>
                  <a:pt x="171084" y="321309"/>
                </a:lnTo>
                <a:lnTo>
                  <a:pt x="144232" y="351789"/>
                </a:lnTo>
                <a:lnTo>
                  <a:pt x="120167" y="382269"/>
                </a:lnTo>
                <a:lnTo>
                  <a:pt x="98989" y="415289"/>
                </a:lnTo>
                <a:lnTo>
                  <a:pt x="65691" y="481329"/>
                </a:lnTo>
                <a:lnTo>
                  <a:pt x="45130" y="551179"/>
                </a:lnTo>
                <a:lnTo>
                  <a:pt x="39029" y="604519"/>
                </a:lnTo>
                <a:lnTo>
                  <a:pt x="19049" y="604519"/>
                </a:lnTo>
                <a:lnTo>
                  <a:pt x="11653" y="605789"/>
                </a:lnTo>
                <a:lnTo>
                  <a:pt x="5595" y="610869"/>
                </a:lnTo>
                <a:lnTo>
                  <a:pt x="1503" y="615949"/>
                </a:lnTo>
                <a:lnTo>
                  <a:pt x="0" y="623569"/>
                </a:lnTo>
                <a:close/>
              </a:path>
              <a:path w="1916430" h="1248410">
                <a:moveTo>
                  <a:pt x="1288788" y="1210309"/>
                </a:moveTo>
                <a:lnTo>
                  <a:pt x="957929" y="1210309"/>
                </a:lnTo>
                <a:lnTo>
                  <a:pt x="1016990" y="1209039"/>
                </a:lnTo>
                <a:lnTo>
                  <a:pt x="1074951" y="1205229"/>
                </a:lnTo>
                <a:lnTo>
                  <a:pt x="1131711" y="1200149"/>
                </a:lnTo>
                <a:lnTo>
                  <a:pt x="1187172" y="1192529"/>
                </a:lnTo>
                <a:lnTo>
                  <a:pt x="1241234" y="1182369"/>
                </a:lnTo>
                <a:lnTo>
                  <a:pt x="1293798" y="1169669"/>
                </a:lnTo>
                <a:lnTo>
                  <a:pt x="1344765" y="1155699"/>
                </a:lnTo>
                <a:lnTo>
                  <a:pt x="1394036" y="1140459"/>
                </a:lnTo>
                <a:lnTo>
                  <a:pt x="1441512" y="1122679"/>
                </a:lnTo>
                <a:lnTo>
                  <a:pt x="1487092" y="1103629"/>
                </a:lnTo>
                <a:lnTo>
                  <a:pt x="1530679" y="1082039"/>
                </a:lnTo>
                <a:lnTo>
                  <a:pt x="1572173" y="1060449"/>
                </a:lnTo>
                <a:lnTo>
                  <a:pt x="1611475" y="1036319"/>
                </a:lnTo>
                <a:lnTo>
                  <a:pt x="1648485" y="1010919"/>
                </a:lnTo>
                <a:lnTo>
                  <a:pt x="1683104" y="984249"/>
                </a:lnTo>
                <a:lnTo>
                  <a:pt x="1715234" y="956309"/>
                </a:lnTo>
                <a:lnTo>
                  <a:pt x="1744774" y="927099"/>
                </a:lnTo>
                <a:lnTo>
                  <a:pt x="1771626" y="896619"/>
                </a:lnTo>
                <a:lnTo>
                  <a:pt x="1795690" y="864869"/>
                </a:lnTo>
                <a:lnTo>
                  <a:pt x="1816868" y="833119"/>
                </a:lnTo>
                <a:lnTo>
                  <a:pt x="1850167" y="765809"/>
                </a:lnTo>
                <a:lnTo>
                  <a:pt x="1870728" y="695959"/>
                </a:lnTo>
                <a:lnTo>
                  <a:pt x="1877758" y="623569"/>
                </a:lnTo>
                <a:lnTo>
                  <a:pt x="1875984" y="588009"/>
                </a:lnTo>
                <a:lnTo>
                  <a:pt x="1862092" y="516889"/>
                </a:lnTo>
                <a:lnTo>
                  <a:pt x="1835068" y="448309"/>
                </a:lnTo>
                <a:lnTo>
                  <a:pt x="1795705" y="382269"/>
                </a:lnTo>
                <a:lnTo>
                  <a:pt x="1771645" y="351789"/>
                </a:lnTo>
                <a:lnTo>
                  <a:pt x="1744796" y="321309"/>
                </a:lnTo>
                <a:lnTo>
                  <a:pt x="1715260" y="292099"/>
                </a:lnTo>
                <a:lnTo>
                  <a:pt x="1683134" y="264159"/>
                </a:lnTo>
                <a:lnTo>
                  <a:pt x="1648517" y="237489"/>
                </a:lnTo>
                <a:lnTo>
                  <a:pt x="1611510" y="212089"/>
                </a:lnTo>
                <a:lnTo>
                  <a:pt x="1572211" y="187959"/>
                </a:lnTo>
                <a:lnTo>
                  <a:pt x="1530719" y="165099"/>
                </a:lnTo>
                <a:lnTo>
                  <a:pt x="1487134" y="144779"/>
                </a:lnTo>
                <a:lnTo>
                  <a:pt x="1441554" y="125729"/>
                </a:lnTo>
                <a:lnTo>
                  <a:pt x="1394078" y="107949"/>
                </a:lnTo>
                <a:lnTo>
                  <a:pt x="1344806" y="91439"/>
                </a:lnTo>
                <a:lnTo>
                  <a:pt x="1293837" y="77469"/>
                </a:lnTo>
                <a:lnTo>
                  <a:pt x="1241270" y="66039"/>
                </a:lnTo>
                <a:lnTo>
                  <a:pt x="1187203" y="55879"/>
                </a:lnTo>
                <a:lnTo>
                  <a:pt x="1131737" y="48259"/>
                </a:lnTo>
                <a:lnTo>
                  <a:pt x="1074969" y="41909"/>
                </a:lnTo>
                <a:lnTo>
                  <a:pt x="1017000" y="38099"/>
                </a:lnTo>
                <a:lnTo>
                  <a:pt x="957929" y="38099"/>
                </a:lnTo>
                <a:lnTo>
                  <a:pt x="957929" y="19049"/>
                </a:lnTo>
                <a:lnTo>
                  <a:pt x="1192355" y="19049"/>
                </a:lnTo>
                <a:lnTo>
                  <a:pt x="1236349" y="26669"/>
                </a:lnTo>
                <a:lnTo>
                  <a:pt x="1288788" y="38099"/>
                </a:lnTo>
                <a:lnTo>
                  <a:pt x="1339894" y="50799"/>
                </a:lnTo>
                <a:lnTo>
                  <a:pt x="1389559" y="66039"/>
                </a:lnTo>
                <a:lnTo>
                  <a:pt x="1437675" y="82549"/>
                </a:lnTo>
                <a:lnTo>
                  <a:pt x="1484133" y="101599"/>
                </a:lnTo>
                <a:lnTo>
                  <a:pt x="1528827" y="121919"/>
                </a:lnTo>
                <a:lnTo>
                  <a:pt x="1571648" y="143509"/>
                </a:lnTo>
                <a:lnTo>
                  <a:pt x="1612488" y="167639"/>
                </a:lnTo>
                <a:lnTo>
                  <a:pt x="1651240" y="193039"/>
                </a:lnTo>
                <a:lnTo>
                  <a:pt x="1687795" y="218439"/>
                </a:lnTo>
                <a:lnTo>
                  <a:pt x="1722046" y="246379"/>
                </a:lnTo>
                <a:lnTo>
                  <a:pt x="1753885" y="275589"/>
                </a:lnTo>
                <a:lnTo>
                  <a:pt x="1783203" y="306069"/>
                </a:lnTo>
                <a:lnTo>
                  <a:pt x="1809893" y="336549"/>
                </a:lnTo>
                <a:lnTo>
                  <a:pt x="1833848" y="369569"/>
                </a:lnTo>
                <a:lnTo>
                  <a:pt x="1854958" y="403859"/>
                </a:lnTo>
                <a:lnTo>
                  <a:pt x="1873117" y="438149"/>
                </a:lnTo>
                <a:lnTo>
                  <a:pt x="1888216" y="473709"/>
                </a:lnTo>
                <a:lnTo>
                  <a:pt x="1908804" y="547369"/>
                </a:lnTo>
                <a:lnTo>
                  <a:pt x="1914076" y="585469"/>
                </a:lnTo>
                <a:lnTo>
                  <a:pt x="1915858" y="623569"/>
                </a:lnTo>
                <a:lnTo>
                  <a:pt x="1914191" y="660399"/>
                </a:lnTo>
                <a:lnTo>
                  <a:pt x="1908804" y="701039"/>
                </a:lnTo>
                <a:lnTo>
                  <a:pt x="1888216" y="774699"/>
                </a:lnTo>
                <a:lnTo>
                  <a:pt x="1873117" y="810259"/>
                </a:lnTo>
                <a:lnTo>
                  <a:pt x="1854958" y="844549"/>
                </a:lnTo>
                <a:lnTo>
                  <a:pt x="1833848" y="877569"/>
                </a:lnTo>
                <a:lnTo>
                  <a:pt x="1809893" y="910589"/>
                </a:lnTo>
                <a:lnTo>
                  <a:pt x="1783203" y="942339"/>
                </a:lnTo>
                <a:lnTo>
                  <a:pt x="1753885" y="972819"/>
                </a:lnTo>
                <a:lnTo>
                  <a:pt x="1722046" y="1000759"/>
                </a:lnTo>
                <a:lnTo>
                  <a:pt x="1687795" y="1028699"/>
                </a:lnTo>
                <a:lnTo>
                  <a:pt x="1651240" y="1055369"/>
                </a:lnTo>
                <a:lnTo>
                  <a:pt x="1612488" y="1080769"/>
                </a:lnTo>
                <a:lnTo>
                  <a:pt x="1571648" y="1103629"/>
                </a:lnTo>
                <a:lnTo>
                  <a:pt x="1528827" y="1125219"/>
                </a:lnTo>
                <a:lnTo>
                  <a:pt x="1484133" y="1145539"/>
                </a:lnTo>
                <a:lnTo>
                  <a:pt x="1437675" y="1164589"/>
                </a:lnTo>
                <a:lnTo>
                  <a:pt x="1389559" y="1181099"/>
                </a:lnTo>
                <a:lnTo>
                  <a:pt x="1339894" y="1196339"/>
                </a:lnTo>
                <a:lnTo>
                  <a:pt x="1288788" y="1210309"/>
                </a:lnTo>
                <a:close/>
              </a:path>
              <a:path w="1916430" h="1248410">
                <a:moveTo>
                  <a:pt x="19049" y="642619"/>
                </a:moveTo>
                <a:lnTo>
                  <a:pt x="11653" y="641349"/>
                </a:lnTo>
                <a:lnTo>
                  <a:pt x="5595" y="637539"/>
                </a:lnTo>
                <a:lnTo>
                  <a:pt x="1503" y="631189"/>
                </a:lnTo>
                <a:lnTo>
                  <a:pt x="0" y="623569"/>
                </a:lnTo>
                <a:lnTo>
                  <a:pt x="1503" y="615949"/>
                </a:lnTo>
                <a:lnTo>
                  <a:pt x="5595" y="610869"/>
                </a:lnTo>
                <a:lnTo>
                  <a:pt x="11653" y="605789"/>
                </a:lnTo>
                <a:lnTo>
                  <a:pt x="19049" y="604519"/>
                </a:lnTo>
                <a:lnTo>
                  <a:pt x="26446" y="605789"/>
                </a:lnTo>
                <a:lnTo>
                  <a:pt x="32504" y="610869"/>
                </a:lnTo>
                <a:lnTo>
                  <a:pt x="36596" y="615949"/>
                </a:lnTo>
                <a:lnTo>
                  <a:pt x="38099" y="623569"/>
                </a:lnTo>
                <a:lnTo>
                  <a:pt x="36596" y="631189"/>
                </a:lnTo>
                <a:lnTo>
                  <a:pt x="32504" y="637539"/>
                </a:lnTo>
                <a:lnTo>
                  <a:pt x="26446" y="641349"/>
                </a:lnTo>
                <a:lnTo>
                  <a:pt x="19049" y="642619"/>
                </a:lnTo>
                <a:close/>
              </a:path>
              <a:path w="1916430" h="1248410">
                <a:moveTo>
                  <a:pt x="38099" y="623569"/>
                </a:moveTo>
                <a:lnTo>
                  <a:pt x="36596" y="615949"/>
                </a:lnTo>
                <a:lnTo>
                  <a:pt x="32504" y="610869"/>
                </a:lnTo>
                <a:lnTo>
                  <a:pt x="26446" y="605789"/>
                </a:lnTo>
                <a:lnTo>
                  <a:pt x="19049" y="604519"/>
                </a:lnTo>
                <a:lnTo>
                  <a:pt x="39029" y="604519"/>
                </a:lnTo>
                <a:lnTo>
                  <a:pt x="38099" y="623569"/>
                </a:lnTo>
                <a:close/>
              </a:path>
              <a:path w="1916430" h="1248410">
                <a:moveTo>
                  <a:pt x="957929" y="1248409"/>
                </a:moveTo>
                <a:lnTo>
                  <a:pt x="900441" y="1247139"/>
                </a:lnTo>
                <a:lnTo>
                  <a:pt x="843748" y="1244599"/>
                </a:lnTo>
                <a:lnTo>
                  <a:pt x="787956" y="1238249"/>
                </a:lnTo>
                <a:lnTo>
                  <a:pt x="733173" y="1230629"/>
                </a:lnTo>
                <a:lnTo>
                  <a:pt x="679509" y="1221739"/>
                </a:lnTo>
                <a:lnTo>
                  <a:pt x="627069" y="1210309"/>
                </a:lnTo>
                <a:lnTo>
                  <a:pt x="575963" y="1196339"/>
                </a:lnTo>
                <a:lnTo>
                  <a:pt x="526298" y="1181099"/>
                </a:lnTo>
                <a:lnTo>
                  <a:pt x="478183" y="1164589"/>
                </a:lnTo>
                <a:lnTo>
                  <a:pt x="431724" y="1145539"/>
                </a:lnTo>
                <a:lnTo>
                  <a:pt x="387030" y="1125219"/>
                </a:lnTo>
                <a:lnTo>
                  <a:pt x="344209" y="1103629"/>
                </a:lnTo>
                <a:lnTo>
                  <a:pt x="303369" y="1080769"/>
                </a:lnTo>
                <a:lnTo>
                  <a:pt x="264617" y="1055369"/>
                </a:lnTo>
                <a:lnTo>
                  <a:pt x="228062" y="1028699"/>
                </a:lnTo>
                <a:lnTo>
                  <a:pt x="193811" y="1000759"/>
                </a:lnTo>
                <a:lnTo>
                  <a:pt x="161973" y="972819"/>
                </a:lnTo>
                <a:lnTo>
                  <a:pt x="132655" y="942339"/>
                </a:lnTo>
                <a:lnTo>
                  <a:pt x="105964" y="910589"/>
                </a:lnTo>
                <a:lnTo>
                  <a:pt x="82010" y="877569"/>
                </a:lnTo>
                <a:lnTo>
                  <a:pt x="60899" y="844549"/>
                </a:lnTo>
                <a:lnTo>
                  <a:pt x="42741" y="810259"/>
                </a:lnTo>
                <a:lnTo>
                  <a:pt x="27642" y="774699"/>
                </a:lnTo>
                <a:lnTo>
                  <a:pt x="15710" y="737869"/>
                </a:lnTo>
                <a:lnTo>
                  <a:pt x="1781" y="662939"/>
                </a:lnTo>
                <a:lnTo>
                  <a:pt x="0" y="623569"/>
                </a:lnTo>
                <a:lnTo>
                  <a:pt x="1503" y="631189"/>
                </a:lnTo>
                <a:lnTo>
                  <a:pt x="5595" y="637539"/>
                </a:lnTo>
                <a:lnTo>
                  <a:pt x="11653" y="641349"/>
                </a:lnTo>
                <a:lnTo>
                  <a:pt x="19049" y="642619"/>
                </a:lnTo>
                <a:lnTo>
                  <a:pt x="39029" y="642619"/>
                </a:lnTo>
                <a:lnTo>
                  <a:pt x="39874" y="660399"/>
                </a:lnTo>
                <a:lnTo>
                  <a:pt x="53768" y="731519"/>
                </a:lnTo>
                <a:lnTo>
                  <a:pt x="80797" y="800099"/>
                </a:lnTo>
                <a:lnTo>
                  <a:pt x="120167" y="864869"/>
                </a:lnTo>
                <a:lnTo>
                  <a:pt x="144232" y="896619"/>
                </a:lnTo>
                <a:lnTo>
                  <a:pt x="171084" y="927099"/>
                </a:lnTo>
                <a:lnTo>
                  <a:pt x="200624" y="956309"/>
                </a:lnTo>
                <a:lnTo>
                  <a:pt x="232753" y="984249"/>
                </a:lnTo>
                <a:lnTo>
                  <a:pt x="267373" y="1010919"/>
                </a:lnTo>
                <a:lnTo>
                  <a:pt x="304383" y="1036319"/>
                </a:lnTo>
                <a:lnTo>
                  <a:pt x="343684" y="1060449"/>
                </a:lnTo>
                <a:lnTo>
                  <a:pt x="385178" y="1082039"/>
                </a:lnTo>
                <a:lnTo>
                  <a:pt x="428765" y="1103629"/>
                </a:lnTo>
                <a:lnTo>
                  <a:pt x="474346" y="1122679"/>
                </a:lnTo>
                <a:lnTo>
                  <a:pt x="521821" y="1140459"/>
                </a:lnTo>
                <a:lnTo>
                  <a:pt x="571092" y="1155699"/>
                </a:lnTo>
                <a:lnTo>
                  <a:pt x="622060" y="1169669"/>
                </a:lnTo>
                <a:lnTo>
                  <a:pt x="674624" y="1182369"/>
                </a:lnTo>
                <a:lnTo>
                  <a:pt x="728686" y="1192529"/>
                </a:lnTo>
                <a:lnTo>
                  <a:pt x="784147" y="1200149"/>
                </a:lnTo>
                <a:lnTo>
                  <a:pt x="840907" y="1205229"/>
                </a:lnTo>
                <a:lnTo>
                  <a:pt x="898867" y="1209039"/>
                </a:lnTo>
                <a:lnTo>
                  <a:pt x="957929" y="1210309"/>
                </a:lnTo>
                <a:lnTo>
                  <a:pt x="1287881" y="1210309"/>
                </a:lnTo>
                <a:lnTo>
                  <a:pt x="1236349" y="1221739"/>
                </a:lnTo>
                <a:lnTo>
                  <a:pt x="1192354" y="1229359"/>
                </a:lnTo>
                <a:lnTo>
                  <a:pt x="957929" y="1229359"/>
                </a:lnTo>
                <a:lnTo>
                  <a:pt x="957929" y="1248409"/>
                </a:lnTo>
                <a:close/>
              </a:path>
              <a:path w="1916430" h="1248410">
                <a:moveTo>
                  <a:pt x="39029" y="642619"/>
                </a:moveTo>
                <a:lnTo>
                  <a:pt x="19049" y="642619"/>
                </a:lnTo>
                <a:lnTo>
                  <a:pt x="26446" y="641349"/>
                </a:lnTo>
                <a:lnTo>
                  <a:pt x="32504" y="637539"/>
                </a:lnTo>
                <a:lnTo>
                  <a:pt x="36596" y="631189"/>
                </a:lnTo>
                <a:lnTo>
                  <a:pt x="38099" y="623569"/>
                </a:lnTo>
                <a:lnTo>
                  <a:pt x="38967" y="641349"/>
                </a:lnTo>
                <a:lnTo>
                  <a:pt x="39029" y="642619"/>
                </a:lnTo>
                <a:close/>
              </a:path>
              <a:path w="1916430" h="1248410">
                <a:moveTo>
                  <a:pt x="957929" y="1248409"/>
                </a:moveTo>
                <a:lnTo>
                  <a:pt x="957929" y="1229359"/>
                </a:lnTo>
                <a:lnTo>
                  <a:pt x="1192354" y="1229359"/>
                </a:lnTo>
                <a:lnTo>
                  <a:pt x="1127902" y="1238249"/>
                </a:lnTo>
                <a:lnTo>
                  <a:pt x="1072110" y="1244599"/>
                </a:lnTo>
                <a:lnTo>
                  <a:pt x="1015416" y="1247139"/>
                </a:lnTo>
                <a:lnTo>
                  <a:pt x="957929" y="1248409"/>
                </a:lnTo>
                <a:close/>
              </a:path>
            </a:pathLst>
          </a:custGeom>
          <a:solidFill>
            <a:srgbClr val="8064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5" name="object 2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760"/>
              </a:lnSpc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E766CB8F-F0B8-811F-A022-7A8951ED4B2D}"/>
              </a:ext>
            </a:extLst>
          </p:cNvPr>
          <p:cNvSpPr txBox="1"/>
          <p:nvPr/>
        </p:nvSpPr>
        <p:spPr>
          <a:xfrm>
            <a:off x="617016" y="552982"/>
            <a:ext cx="160071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/>
              <a:t>OFF BY ONE</a:t>
            </a:r>
          </a:p>
        </p:txBody>
      </p:sp>
      <p:pic>
        <p:nvPicPr>
          <p:cNvPr id="5" name="Picture 4" descr="A logo with text and a green light bulb&#10;&#10;AI-generated content may be incorrect.">
            <a:extLst>
              <a:ext uri="{FF2B5EF4-FFF2-40B4-BE49-F238E27FC236}">
                <a16:creationId xmlns:a16="http://schemas.microsoft.com/office/drawing/2014/main" id="{689CC025-6F15-6076-0B8F-222A203DEA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68600" y="337068"/>
            <a:ext cx="2403147" cy="114404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4994113-F258-F567-BA2B-76676D39B151}"/>
              </a:ext>
            </a:extLst>
          </p:cNvPr>
          <p:cNvSpPr/>
          <p:nvPr/>
        </p:nvSpPr>
        <p:spPr>
          <a:xfrm>
            <a:off x="1529469" y="2281905"/>
            <a:ext cx="1676400" cy="9906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USER</a:t>
            </a:r>
          </a:p>
          <a:p>
            <a:pPr algn="ctr"/>
            <a:r>
              <a:rPr lang="en-IN" dirty="0"/>
              <a:t>Text/ voice / language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42513DD-CF3A-9F7E-332D-2EA22DB20D4C}"/>
              </a:ext>
            </a:extLst>
          </p:cNvPr>
          <p:cNvSpPr/>
          <p:nvPr/>
        </p:nvSpPr>
        <p:spPr>
          <a:xfrm>
            <a:off x="567245" y="3709975"/>
            <a:ext cx="3810000" cy="13716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dirty="0"/>
              <a:t>AI / NLP INTERACTION LAYER </a:t>
            </a:r>
          </a:p>
          <a:p>
            <a:pPr algn="l"/>
            <a:r>
              <a:rPr lang="en-IN" b="1" dirty="0"/>
              <a:t>LLM – Speech to text – Translation</a:t>
            </a:r>
          </a:p>
          <a:p>
            <a:pPr algn="l"/>
            <a:r>
              <a:rPr lang="en-IN" dirty="0"/>
              <a:t>Understands user intent &amp; extracts profile Information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FEC3758-CDA3-51F2-81E1-7B658F0AC0C9}"/>
              </a:ext>
            </a:extLst>
          </p:cNvPr>
          <p:cNvSpPr/>
          <p:nvPr/>
        </p:nvSpPr>
        <p:spPr>
          <a:xfrm>
            <a:off x="584305" y="5686609"/>
            <a:ext cx="3810000" cy="13716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dirty="0"/>
              <a:t>PROFILE EXTRACTION </a:t>
            </a:r>
          </a:p>
          <a:p>
            <a:pPr algn="l"/>
            <a:r>
              <a:rPr lang="en-IN" dirty="0"/>
              <a:t>Income – Project cost – Purpose – Education need – Location – Category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0B50BFA-9FAA-F532-D374-EB7B7E03445C}"/>
              </a:ext>
            </a:extLst>
          </p:cNvPr>
          <p:cNvSpPr/>
          <p:nvPr/>
        </p:nvSpPr>
        <p:spPr>
          <a:xfrm>
            <a:off x="4038600" y="7626604"/>
            <a:ext cx="2987722" cy="145759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dirty="0"/>
              <a:t>VERIFIED SCHEME DB</a:t>
            </a:r>
          </a:p>
          <a:p>
            <a:pPr algn="ctr"/>
            <a:r>
              <a:rPr lang="en-IN" sz="2400" dirty="0"/>
              <a:t>PostgreSQL</a:t>
            </a:r>
          </a:p>
          <a:p>
            <a:pPr algn="l"/>
            <a:r>
              <a:rPr lang="en-IN" dirty="0"/>
              <a:t>Scheme conditions </a:t>
            </a:r>
          </a:p>
          <a:p>
            <a:pPr algn="l"/>
            <a:r>
              <a:rPr lang="en-IN" dirty="0"/>
              <a:t>Source + version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C622FE8-783B-E1DB-029E-ABBDCD3A8532}"/>
              </a:ext>
            </a:extLst>
          </p:cNvPr>
          <p:cNvSpPr/>
          <p:nvPr/>
        </p:nvSpPr>
        <p:spPr>
          <a:xfrm>
            <a:off x="584305" y="7595446"/>
            <a:ext cx="2987722" cy="145759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dirty="0"/>
              <a:t>RULE ENGINE </a:t>
            </a:r>
          </a:p>
          <a:p>
            <a:pPr algn="l"/>
            <a:r>
              <a:rPr lang="en-IN" dirty="0"/>
              <a:t>Eligibility rules</a:t>
            </a:r>
          </a:p>
          <a:p>
            <a:pPr algn="l"/>
            <a:r>
              <a:rPr lang="en-IN" dirty="0"/>
              <a:t>Limits &amp; conditions </a:t>
            </a:r>
          </a:p>
          <a:p>
            <a:pPr algn="l"/>
            <a:r>
              <a:rPr lang="en-IN" dirty="0"/>
              <a:t>Deterministic check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3667248-6431-F5AC-9810-FDBC90643A08}"/>
              </a:ext>
            </a:extLst>
          </p:cNvPr>
          <p:cNvCxnSpPr/>
          <p:nvPr/>
        </p:nvCxnSpPr>
        <p:spPr>
          <a:xfrm>
            <a:off x="2367669" y="4482270"/>
            <a:ext cx="0" cy="30732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68209566-B0A7-1161-4120-49AE00D072A5}"/>
              </a:ext>
            </a:extLst>
          </p:cNvPr>
          <p:cNvSpPr/>
          <p:nvPr/>
        </p:nvSpPr>
        <p:spPr>
          <a:xfrm>
            <a:off x="7572803" y="6979374"/>
            <a:ext cx="2987722" cy="14576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dirty="0"/>
              <a:t>MATCH ENGINE </a:t>
            </a:r>
          </a:p>
          <a:p>
            <a:pPr algn="l"/>
            <a:r>
              <a:rPr lang="en-IN" dirty="0"/>
              <a:t>Potential scheme + WHY</a:t>
            </a:r>
          </a:p>
          <a:p>
            <a:pPr algn="l"/>
            <a:r>
              <a:rPr lang="en-IN" dirty="0"/>
              <a:t>Income – conditions -       Purpose - Cost    </a:t>
            </a:r>
          </a:p>
          <a:p>
            <a:pPr algn="ctr"/>
            <a:endParaRPr lang="en-IN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EFFBFE0-5AEF-8E05-781F-FB81935339E5}"/>
              </a:ext>
            </a:extLst>
          </p:cNvPr>
          <p:cNvSpPr/>
          <p:nvPr/>
        </p:nvSpPr>
        <p:spPr>
          <a:xfrm>
            <a:off x="11573579" y="5330162"/>
            <a:ext cx="2987722" cy="208449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dirty="0"/>
              <a:t>FINANCIAL ENGINE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dirty="0"/>
              <a:t>loan limit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dirty="0"/>
              <a:t>EMI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dirty="0"/>
              <a:t>Interest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dirty="0"/>
              <a:t>Tenure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dirty="0"/>
              <a:t>moratorium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260D0F5-D8FF-3FC3-C543-FE4998EE9092}"/>
              </a:ext>
            </a:extLst>
          </p:cNvPr>
          <p:cNvSpPr/>
          <p:nvPr/>
        </p:nvSpPr>
        <p:spPr>
          <a:xfrm>
            <a:off x="11573579" y="7681249"/>
            <a:ext cx="2987722" cy="155109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dirty="0"/>
              <a:t>PARTNER ROUTER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dirty="0"/>
              <a:t>GIS / maps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dirty="0"/>
              <a:t>Location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dirty="0"/>
              <a:t>Category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dirty="0"/>
              <a:t>Verification status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99B71F0-780E-4CD6-AD7D-D962A64EA7A8}"/>
              </a:ext>
            </a:extLst>
          </p:cNvPr>
          <p:cNvSpPr/>
          <p:nvPr/>
        </p:nvSpPr>
        <p:spPr>
          <a:xfrm>
            <a:off x="15054302" y="6863209"/>
            <a:ext cx="2987722" cy="157376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dirty="0"/>
              <a:t>ACTIONABLE NEXT STEP </a:t>
            </a:r>
          </a:p>
          <a:p>
            <a:pPr algn="l"/>
            <a:r>
              <a:rPr lang="en-IN" b="1" dirty="0"/>
              <a:t>MATCH – EXPLAIN – CALCULATE – ROUTE </a:t>
            </a:r>
          </a:p>
        </p:txBody>
      </p: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15A944BE-B49E-0A52-403A-5ACC34E1E2D0}"/>
              </a:ext>
            </a:extLst>
          </p:cNvPr>
          <p:cNvCxnSpPr>
            <a:stCxn id="8" idx="2"/>
          </p:cNvCxnSpPr>
          <p:nvPr/>
        </p:nvCxnSpPr>
        <p:spPr>
          <a:xfrm>
            <a:off x="2367669" y="3272505"/>
            <a:ext cx="0" cy="4374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92463FF9-F508-6F0F-7E56-5F455F928678}"/>
              </a:ext>
            </a:extLst>
          </p:cNvPr>
          <p:cNvCxnSpPr/>
          <p:nvPr/>
        </p:nvCxnSpPr>
        <p:spPr>
          <a:xfrm>
            <a:off x="2367669" y="5143500"/>
            <a:ext cx="0" cy="5431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A07950B5-8475-440B-D483-BA2204459551}"/>
              </a:ext>
            </a:extLst>
          </p:cNvPr>
          <p:cNvCxnSpPr/>
          <p:nvPr/>
        </p:nvCxnSpPr>
        <p:spPr>
          <a:xfrm>
            <a:off x="2367669" y="7058209"/>
            <a:ext cx="0" cy="5372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7C2955F8-E039-616B-D5F7-4D0935AC18EA}"/>
              </a:ext>
            </a:extLst>
          </p:cNvPr>
          <p:cNvCxnSpPr>
            <a:cxnSpLocks/>
            <a:stCxn id="15" idx="3"/>
          </p:cNvCxnSpPr>
          <p:nvPr/>
        </p:nvCxnSpPr>
        <p:spPr>
          <a:xfrm flipV="1">
            <a:off x="3572027" y="8324245"/>
            <a:ext cx="466573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944784B2-3C85-7DC9-5639-77B39FB7EC42}"/>
              </a:ext>
            </a:extLst>
          </p:cNvPr>
          <p:cNvCxnSpPr/>
          <p:nvPr/>
        </p:nvCxnSpPr>
        <p:spPr>
          <a:xfrm>
            <a:off x="7026322" y="7886700"/>
            <a:ext cx="54648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FA75944D-70DF-3574-E96C-EC39FFD67FC6}"/>
              </a:ext>
            </a:extLst>
          </p:cNvPr>
          <p:cNvCxnSpPr/>
          <p:nvPr/>
        </p:nvCxnSpPr>
        <p:spPr>
          <a:xfrm>
            <a:off x="10560525" y="8191500"/>
            <a:ext cx="101305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Arrow Connector 146">
            <a:extLst>
              <a:ext uri="{FF2B5EF4-FFF2-40B4-BE49-F238E27FC236}">
                <a16:creationId xmlns:a16="http://schemas.microsoft.com/office/drawing/2014/main" id="{5BEDB850-1D32-B1D7-F336-24D58D4F1F2F}"/>
              </a:ext>
            </a:extLst>
          </p:cNvPr>
          <p:cNvCxnSpPr/>
          <p:nvPr/>
        </p:nvCxnSpPr>
        <p:spPr>
          <a:xfrm>
            <a:off x="10560525" y="7124427"/>
            <a:ext cx="101305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50BB613B-05DD-7170-14FD-41A752430028}"/>
              </a:ext>
            </a:extLst>
          </p:cNvPr>
          <p:cNvCxnSpPr/>
          <p:nvPr/>
        </p:nvCxnSpPr>
        <p:spPr>
          <a:xfrm>
            <a:off x="14561301" y="7124427"/>
            <a:ext cx="49300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Arrow Connector 150">
            <a:extLst>
              <a:ext uri="{FF2B5EF4-FFF2-40B4-BE49-F238E27FC236}">
                <a16:creationId xmlns:a16="http://schemas.microsoft.com/office/drawing/2014/main" id="{609DBE9E-8AC0-57B0-FCF1-2B6579DBB232}"/>
              </a:ext>
            </a:extLst>
          </p:cNvPr>
          <p:cNvCxnSpPr/>
          <p:nvPr/>
        </p:nvCxnSpPr>
        <p:spPr>
          <a:xfrm>
            <a:off x="14561301" y="8191500"/>
            <a:ext cx="49300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8AC97932-548F-9E50-FD10-451D46A8C7B3}"/>
              </a:ext>
            </a:extLst>
          </p:cNvPr>
          <p:cNvCxnSpPr>
            <a:stCxn id="30" idx="2"/>
            <a:endCxn id="32" idx="0"/>
          </p:cNvCxnSpPr>
          <p:nvPr/>
        </p:nvCxnSpPr>
        <p:spPr>
          <a:xfrm>
            <a:off x="13067440" y="7414656"/>
            <a:ext cx="0" cy="26659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5" name="Picture 154">
            <a:extLst>
              <a:ext uri="{FF2B5EF4-FFF2-40B4-BE49-F238E27FC236}">
                <a16:creationId xmlns:a16="http://schemas.microsoft.com/office/drawing/2014/main" id="{87371072-DE3A-2037-D602-1A8BA6D1EA9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4192" y="1695709"/>
            <a:ext cx="4885455" cy="2218941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157" name="Picture 156">
            <a:extLst>
              <a:ext uri="{FF2B5EF4-FFF2-40B4-BE49-F238E27FC236}">
                <a16:creationId xmlns:a16="http://schemas.microsoft.com/office/drawing/2014/main" id="{77AB5B0E-F712-2B72-1162-C980B1AC0E9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4193" y="4231660"/>
            <a:ext cx="4885462" cy="243070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174" name="Rectangle 173">
            <a:extLst>
              <a:ext uri="{FF2B5EF4-FFF2-40B4-BE49-F238E27FC236}">
                <a16:creationId xmlns:a16="http://schemas.microsoft.com/office/drawing/2014/main" id="{A0B532EC-3012-F72B-E9BB-429D462BC362}"/>
              </a:ext>
            </a:extLst>
          </p:cNvPr>
          <p:cNvSpPr/>
          <p:nvPr/>
        </p:nvSpPr>
        <p:spPr>
          <a:xfrm>
            <a:off x="11734800" y="1866900"/>
            <a:ext cx="6307224" cy="321467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59" name="Picture 158">
            <a:extLst>
              <a:ext uri="{FF2B5EF4-FFF2-40B4-BE49-F238E27FC236}">
                <a16:creationId xmlns:a16="http://schemas.microsoft.com/office/drawing/2014/main" id="{853F8A17-FCD5-AF0D-75EF-4296ECE1430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69729" y="2785731"/>
            <a:ext cx="1196948" cy="1038587"/>
          </a:xfrm>
          <a:prstGeom prst="rect">
            <a:avLst/>
          </a:prstGeom>
        </p:spPr>
      </p:pic>
      <p:pic>
        <p:nvPicPr>
          <p:cNvPr id="161" name="Picture 160">
            <a:extLst>
              <a:ext uri="{FF2B5EF4-FFF2-40B4-BE49-F238E27FC236}">
                <a16:creationId xmlns:a16="http://schemas.microsoft.com/office/drawing/2014/main" id="{D6AD3A6C-80DF-CACA-0646-666EE3C9787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1691" y="2746107"/>
            <a:ext cx="1196948" cy="1058478"/>
          </a:xfrm>
          <a:prstGeom prst="rect">
            <a:avLst/>
          </a:prstGeom>
        </p:spPr>
      </p:pic>
      <p:pic>
        <p:nvPicPr>
          <p:cNvPr id="163" name="Picture 162">
            <a:extLst>
              <a:ext uri="{FF2B5EF4-FFF2-40B4-BE49-F238E27FC236}">
                <a16:creationId xmlns:a16="http://schemas.microsoft.com/office/drawing/2014/main" id="{19AE7DA3-C304-E39E-7AD1-4EEA4FFA349E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33653" y="2780694"/>
            <a:ext cx="1079887" cy="1034322"/>
          </a:xfrm>
          <a:prstGeom prst="rect">
            <a:avLst/>
          </a:prstGeom>
        </p:spPr>
      </p:pic>
      <p:pic>
        <p:nvPicPr>
          <p:cNvPr id="168" name="Picture 167">
            <a:extLst>
              <a:ext uri="{FF2B5EF4-FFF2-40B4-BE49-F238E27FC236}">
                <a16:creationId xmlns:a16="http://schemas.microsoft.com/office/drawing/2014/main" id="{8613D3C7-A837-78F0-5AEB-0331DC3890D5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41353" y="3941659"/>
            <a:ext cx="1049631" cy="905175"/>
          </a:xfrm>
          <a:prstGeom prst="rect">
            <a:avLst/>
          </a:prstGeom>
        </p:spPr>
      </p:pic>
      <p:pic>
        <p:nvPicPr>
          <p:cNvPr id="170" name="Picture 169">
            <a:extLst>
              <a:ext uri="{FF2B5EF4-FFF2-40B4-BE49-F238E27FC236}">
                <a16:creationId xmlns:a16="http://schemas.microsoft.com/office/drawing/2014/main" id="{8FCE0B06-DA44-0393-6A58-C7464EDE0D5F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8639" y="3804585"/>
            <a:ext cx="978866" cy="1041357"/>
          </a:xfrm>
          <a:prstGeom prst="rect">
            <a:avLst/>
          </a:prstGeom>
        </p:spPr>
      </p:pic>
      <p:sp>
        <p:nvSpPr>
          <p:cNvPr id="173" name="TextBox 172">
            <a:extLst>
              <a:ext uri="{FF2B5EF4-FFF2-40B4-BE49-F238E27FC236}">
                <a16:creationId xmlns:a16="http://schemas.microsoft.com/office/drawing/2014/main" id="{87D679AF-E905-8E95-733D-7D327B055458}"/>
              </a:ext>
            </a:extLst>
          </p:cNvPr>
          <p:cNvSpPr txBox="1"/>
          <p:nvPr/>
        </p:nvSpPr>
        <p:spPr>
          <a:xfrm>
            <a:off x="13029909" y="1943100"/>
            <a:ext cx="34807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/>
              <a:t>TECH STACK 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8B786B9E-4B94-89C8-EF69-00D6278E5C5C}"/>
              </a:ext>
            </a:extLst>
          </p:cNvPr>
          <p:cNvSpPr txBox="1"/>
          <p:nvPr/>
        </p:nvSpPr>
        <p:spPr>
          <a:xfrm>
            <a:off x="567245" y="1702806"/>
            <a:ext cx="41571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/>
              <a:t>SYSTEM ARCHITECTURE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249796" y="232698"/>
            <a:ext cx="1916430" cy="1248410"/>
          </a:xfrm>
          <a:custGeom>
            <a:avLst/>
            <a:gdLst/>
            <a:ahLst/>
            <a:cxnLst/>
            <a:rect l="l" t="t" r="r" b="b"/>
            <a:pathLst>
              <a:path w="1916430" h="1248410">
                <a:moveTo>
                  <a:pt x="0" y="623569"/>
                </a:moveTo>
                <a:lnTo>
                  <a:pt x="1662" y="588009"/>
                </a:lnTo>
                <a:lnTo>
                  <a:pt x="1781" y="585469"/>
                </a:lnTo>
                <a:lnTo>
                  <a:pt x="7054" y="547369"/>
                </a:lnTo>
                <a:lnTo>
                  <a:pt x="15710" y="509269"/>
                </a:lnTo>
                <a:lnTo>
                  <a:pt x="42741" y="438149"/>
                </a:lnTo>
                <a:lnTo>
                  <a:pt x="60899" y="403859"/>
                </a:lnTo>
                <a:lnTo>
                  <a:pt x="82010" y="369569"/>
                </a:lnTo>
                <a:lnTo>
                  <a:pt x="105964" y="336549"/>
                </a:lnTo>
                <a:lnTo>
                  <a:pt x="132655" y="306069"/>
                </a:lnTo>
                <a:lnTo>
                  <a:pt x="161973" y="275589"/>
                </a:lnTo>
                <a:lnTo>
                  <a:pt x="193811" y="246379"/>
                </a:lnTo>
                <a:lnTo>
                  <a:pt x="228062" y="218439"/>
                </a:lnTo>
                <a:lnTo>
                  <a:pt x="264617" y="193039"/>
                </a:lnTo>
                <a:lnTo>
                  <a:pt x="303369" y="167639"/>
                </a:lnTo>
                <a:lnTo>
                  <a:pt x="344209" y="143509"/>
                </a:lnTo>
                <a:lnTo>
                  <a:pt x="387030" y="121919"/>
                </a:lnTo>
                <a:lnTo>
                  <a:pt x="431724" y="101599"/>
                </a:lnTo>
                <a:lnTo>
                  <a:pt x="478183" y="82549"/>
                </a:lnTo>
                <a:lnTo>
                  <a:pt x="526298" y="66039"/>
                </a:lnTo>
                <a:lnTo>
                  <a:pt x="575963" y="50799"/>
                </a:lnTo>
                <a:lnTo>
                  <a:pt x="627069" y="38099"/>
                </a:lnTo>
                <a:lnTo>
                  <a:pt x="679508" y="26669"/>
                </a:lnTo>
                <a:lnTo>
                  <a:pt x="733173" y="16509"/>
                </a:lnTo>
                <a:lnTo>
                  <a:pt x="787956" y="8889"/>
                </a:lnTo>
                <a:lnTo>
                  <a:pt x="843748" y="3809"/>
                </a:lnTo>
                <a:lnTo>
                  <a:pt x="900441" y="0"/>
                </a:lnTo>
                <a:lnTo>
                  <a:pt x="1015416" y="0"/>
                </a:lnTo>
                <a:lnTo>
                  <a:pt x="1072110" y="3809"/>
                </a:lnTo>
                <a:lnTo>
                  <a:pt x="1127902" y="8889"/>
                </a:lnTo>
                <a:lnTo>
                  <a:pt x="1182684" y="16509"/>
                </a:lnTo>
                <a:lnTo>
                  <a:pt x="1192355" y="19049"/>
                </a:lnTo>
                <a:lnTo>
                  <a:pt x="957929" y="19049"/>
                </a:lnTo>
                <a:lnTo>
                  <a:pt x="957929" y="38099"/>
                </a:lnTo>
                <a:lnTo>
                  <a:pt x="898867" y="38099"/>
                </a:lnTo>
                <a:lnTo>
                  <a:pt x="840907" y="41909"/>
                </a:lnTo>
                <a:lnTo>
                  <a:pt x="784147" y="48259"/>
                </a:lnTo>
                <a:lnTo>
                  <a:pt x="728686" y="55879"/>
                </a:lnTo>
                <a:lnTo>
                  <a:pt x="674624" y="66039"/>
                </a:lnTo>
                <a:lnTo>
                  <a:pt x="622060" y="77469"/>
                </a:lnTo>
                <a:lnTo>
                  <a:pt x="571092" y="91439"/>
                </a:lnTo>
                <a:lnTo>
                  <a:pt x="521821" y="107949"/>
                </a:lnTo>
                <a:lnTo>
                  <a:pt x="474346" y="125729"/>
                </a:lnTo>
                <a:lnTo>
                  <a:pt x="428765" y="144779"/>
                </a:lnTo>
                <a:lnTo>
                  <a:pt x="385178" y="165099"/>
                </a:lnTo>
                <a:lnTo>
                  <a:pt x="343684" y="187959"/>
                </a:lnTo>
                <a:lnTo>
                  <a:pt x="304383" y="212089"/>
                </a:lnTo>
                <a:lnTo>
                  <a:pt x="267373" y="237489"/>
                </a:lnTo>
                <a:lnTo>
                  <a:pt x="232753" y="264159"/>
                </a:lnTo>
                <a:lnTo>
                  <a:pt x="200624" y="292099"/>
                </a:lnTo>
                <a:lnTo>
                  <a:pt x="171084" y="321309"/>
                </a:lnTo>
                <a:lnTo>
                  <a:pt x="144231" y="351789"/>
                </a:lnTo>
                <a:lnTo>
                  <a:pt x="120167" y="382269"/>
                </a:lnTo>
                <a:lnTo>
                  <a:pt x="98989" y="415289"/>
                </a:lnTo>
                <a:lnTo>
                  <a:pt x="65691" y="481329"/>
                </a:lnTo>
                <a:lnTo>
                  <a:pt x="45130" y="551179"/>
                </a:lnTo>
                <a:lnTo>
                  <a:pt x="39029" y="604519"/>
                </a:lnTo>
                <a:lnTo>
                  <a:pt x="19049" y="604519"/>
                </a:lnTo>
                <a:lnTo>
                  <a:pt x="11653" y="605789"/>
                </a:lnTo>
                <a:lnTo>
                  <a:pt x="5595" y="610869"/>
                </a:lnTo>
                <a:lnTo>
                  <a:pt x="1503" y="615949"/>
                </a:lnTo>
                <a:lnTo>
                  <a:pt x="0" y="623569"/>
                </a:lnTo>
                <a:close/>
              </a:path>
              <a:path w="1916430" h="1248410">
                <a:moveTo>
                  <a:pt x="1288788" y="1210309"/>
                </a:moveTo>
                <a:lnTo>
                  <a:pt x="957929" y="1210309"/>
                </a:lnTo>
                <a:lnTo>
                  <a:pt x="1016990" y="1209039"/>
                </a:lnTo>
                <a:lnTo>
                  <a:pt x="1074951" y="1205229"/>
                </a:lnTo>
                <a:lnTo>
                  <a:pt x="1131711" y="1200149"/>
                </a:lnTo>
                <a:lnTo>
                  <a:pt x="1187171" y="1192529"/>
                </a:lnTo>
                <a:lnTo>
                  <a:pt x="1241234" y="1182369"/>
                </a:lnTo>
                <a:lnTo>
                  <a:pt x="1293798" y="1169669"/>
                </a:lnTo>
                <a:lnTo>
                  <a:pt x="1344765" y="1155699"/>
                </a:lnTo>
                <a:lnTo>
                  <a:pt x="1394036" y="1140459"/>
                </a:lnTo>
                <a:lnTo>
                  <a:pt x="1441511" y="1122679"/>
                </a:lnTo>
                <a:lnTo>
                  <a:pt x="1487092" y="1103629"/>
                </a:lnTo>
                <a:lnTo>
                  <a:pt x="1530679" y="1082039"/>
                </a:lnTo>
                <a:lnTo>
                  <a:pt x="1572173" y="1060449"/>
                </a:lnTo>
                <a:lnTo>
                  <a:pt x="1611475" y="1036319"/>
                </a:lnTo>
                <a:lnTo>
                  <a:pt x="1648485" y="1010919"/>
                </a:lnTo>
                <a:lnTo>
                  <a:pt x="1683104" y="984249"/>
                </a:lnTo>
                <a:lnTo>
                  <a:pt x="1715233" y="956309"/>
                </a:lnTo>
                <a:lnTo>
                  <a:pt x="1744774" y="927099"/>
                </a:lnTo>
                <a:lnTo>
                  <a:pt x="1771626" y="896619"/>
                </a:lnTo>
                <a:lnTo>
                  <a:pt x="1795690" y="864869"/>
                </a:lnTo>
                <a:lnTo>
                  <a:pt x="1816868" y="833119"/>
                </a:lnTo>
                <a:lnTo>
                  <a:pt x="1850167" y="765809"/>
                </a:lnTo>
                <a:lnTo>
                  <a:pt x="1870728" y="695959"/>
                </a:lnTo>
                <a:lnTo>
                  <a:pt x="1877758" y="623569"/>
                </a:lnTo>
                <a:lnTo>
                  <a:pt x="1875984" y="588009"/>
                </a:lnTo>
                <a:lnTo>
                  <a:pt x="1862092" y="516889"/>
                </a:lnTo>
                <a:lnTo>
                  <a:pt x="1835068" y="448309"/>
                </a:lnTo>
                <a:lnTo>
                  <a:pt x="1795705" y="382269"/>
                </a:lnTo>
                <a:lnTo>
                  <a:pt x="1771645" y="351789"/>
                </a:lnTo>
                <a:lnTo>
                  <a:pt x="1744796" y="321309"/>
                </a:lnTo>
                <a:lnTo>
                  <a:pt x="1715259" y="292099"/>
                </a:lnTo>
                <a:lnTo>
                  <a:pt x="1683134" y="264159"/>
                </a:lnTo>
                <a:lnTo>
                  <a:pt x="1648517" y="237489"/>
                </a:lnTo>
                <a:lnTo>
                  <a:pt x="1611510" y="212089"/>
                </a:lnTo>
                <a:lnTo>
                  <a:pt x="1572211" y="187959"/>
                </a:lnTo>
                <a:lnTo>
                  <a:pt x="1530719" y="165099"/>
                </a:lnTo>
                <a:lnTo>
                  <a:pt x="1487134" y="144779"/>
                </a:lnTo>
                <a:lnTo>
                  <a:pt x="1441554" y="125729"/>
                </a:lnTo>
                <a:lnTo>
                  <a:pt x="1394078" y="107949"/>
                </a:lnTo>
                <a:lnTo>
                  <a:pt x="1344806" y="91439"/>
                </a:lnTo>
                <a:lnTo>
                  <a:pt x="1293837" y="77469"/>
                </a:lnTo>
                <a:lnTo>
                  <a:pt x="1241269" y="66039"/>
                </a:lnTo>
                <a:lnTo>
                  <a:pt x="1187203" y="55879"/>
                </a:lnTo>
                <a:lnTo>
                  <a:pt x="1131737" y="48259"/>
                </a:lnTo>
                <a:lnTo>
                  <a:pt x="1074969" y="41909"/>
                </a:lnTo>
                <a:lnTo>
                  <a:pt x="1017000" y="38099"/>
                </a:lnTo>
                <a:lnTo>
                  <a:pt x="957929" y="38099"/>
                </a:lnTo>
                <a:lnTo>
                  <a:pt x="957929" y="19049"/>
                </a:lnTo>
                <a:lnTo>
                  <a:pt x="1192355" y="19049"/>
                </a:lnTo>
                <a:lnTo>
                  <a:pt x="1236349" y="26669"/>
                </a:lnTo>
                <a:lnTo>
                  <a:pt x="1288788" y="38099"/>
                </a:lnTo>
                <a:lnTo>
                  <a:pt x="1339894" y="50799"/>
                </a:lnTo>
                <a:lnTo>
                  <a:pt x="1389559" y="66039"/>
                </a:lnTo>
                <a:lnTo>
                  <a:pt x="1437675" y="82549"/>
                </a:lnTo>
                <a:lnTo>
                  <a:pt x="1484133" y="101599"/>
                </a:lnTo>
                <a:lnTo>
                  <a:pt x="1528827" y="121919"/>
                </a:lnTo>
                <a:lnTo>
                  <a:pt x="1571648" y="143509"/>
                </a:lnTo>
                <a:lnTo>
                  <a:pt x="1612488" y="167639"/>
                </a:lnTo>
                <a:lnTo>
                  <a:pt x="1651240" y="193039"/>
                </a:lnTo>
                <a:lnTo>
                  <a:pt x="1687795" y="218439"/>
                </a:lnTo>
                <a:lnTo>
                  <a:pt x="1722046" y="246379"/>
                </a:lnTo>
                <a:lnTo>
                  <a:pt x="1753885" y="275589"/>
                </a:lnTo>
                <a:lnTo>
                  <a:pt x="1783203" y="306069"/>
                </a:lnTo>
                <a:lnTo>
                  <a:pt x="1809893" y="336549"/>
                </a:lnTo>
                <a:lnTo>
                  <a:pt x="1833848" y="369569"/>
                </a:lnTo>
                <a:lnTo>
                  <a:pt x="1854958" y="403859"/>
                </a:lnTo>
                <a:lnTo>
                  <a:pt x="1873117" y="438149"/>
                </a:lnTo>
                <a:lnTo>
                  <a:pt x="1888216" y="473709"/>
                </a:lnTo>
                <a:lnTo>
                  <a:pt x="1908804" y="547369"/>
                </a:lnTo>
                <a:lnTo>
                  <a:pt x="1914076" y="585469"/>
                </a:lnTo>
                <a:lnTo>
                  <a:pt x="1915858" y="623569"/>
                </a:lnTo>
                <a:lnTo>
                  <a:pt x="1914191" y="660399"/>
                </a:lnTo>
                <a:lnTo>
                  <a:pt x="1908804" y="701039"/>
                </a:lnTo>
                <a:lnTo>
                  <a:pt x="1888216" y="774699"/>
                </a:lnTo>
                <a:lnTo>
                  <a:pt x="1873117" y="810259"/>
                </a:lnTo>
                <a:lnTo>
                  <a:pt x="1854958" y="844549"/>
                </a:lnTo>
                <a:lnTo>
                  <a:pt x="1833848" y="877569"/>
                </a:lnTo>
                <a:lnTo>
                  <a:pt x="1809893" y="910589"/>
                </a:lnTo>
                <a:lnTo>
                  <a:pt x="1783203" y="942339"/>
                </a:lnTo>
                <a:lnTo>
                  <a:pt x="1753885" y="972819"/>
                </a:lnTo>
                <a:lnTo>
                  <a:pt x="1722046" y="1000759"/>
                </a:lnTo>
                <a:lnTo>
                  <a:pt x="1687795" y="1028699"/>
                </a:lnTo>
                <a:lnTo>
                  <a:pt x="1651240" y="1055369"/>
                </a:lnTo>
                <a:lnTo>
                  <a:pt x="1612488" y="1080769"/>
                </a:lnTo>
                <a:lnTo>
                  <a:pt x="1571648" y="1103629"/>
                </a:lnTo>
                <a:lnTo>
                  <a:pt x="1528827" y="1125219"/>
                </a:lnTo>
                <a:lnTo>
                  <a:pt x="1484133" y="1145539"/>
                </a:lnTo>
                <a:lnTo>
                  <a:pt x="1437675" y="1164589"/>
                </a:lnTo>
                <a:lnTo>
                  <a:pt x="1389559" y="1181099"/>
                </a:lnTo>
                <a:lnTo>
                  <a:pt x="1339894" y="1196339"/>
                </a:lnTo>
                <a:lnTo>
                  <a:pt x="1288788" y="1210309"/>
                </a:lnTo>
                <a:close/>
              </a:path>
              <a:path w="1916430" h="1248410">
                <a:moveTo>
                  <a:pt x="19049" y="642619"/>
                </a:moveTo>
                <a:lnTo>
                  <a:pt x="11653" y="641349"/>
                </a:lnTo>
                <a:lnTo>
                  <a:pt x="5595" y="637539"/>
                </a:lnTo>
                <a:lnTo>
                  <a:pt x="1503" y="631189"/>
                </a:lnTo>
                <a:lnTo>
                  <a:pt x="0" y="623569"/>
                </a:lnTo>
                <a:lnTo>
                  <a:pt x="1503" y="615949"/>
                </a:lnTo>
                <a:lnTo>
                  <a:pt x="5595" y="610869"/>
                </a:lnTo>
                <a:lnTo>
                  <a:pt x="11653" y="605789"/>
                </a:lnTo>
                <a:lnTo>
                  <a:pt x="19049" y="604519"/>
                </a:lnTo>
                <a:lnTo>
                  <a:pt x="26446" y="605789"/>
                </a:lnTo>
                <a:lnTo>
                  <a:pt x="32504" y="610869"/>
                </a:lnTo>
                <a:lnTo>
                  <a:pt x="36596" y="615949"/>
                </a:lnTo>
                <a:lnTo>
                  <a:pt x="38099" y="623569"/>
                </a:lnTo>
                <a:lnTo>
                  <a:pt x="36596" y="631189"/>
                </a:lnTo>
                <a:lnTo>
                  <a:pt x="32504" y="637539"/>
                </a:lnTo>
                <a:lnTo>
                  <a:pt x="26446" y="641349"/>
                </a:lnTo>
                <a:lnTo>
                  <a:pt x="19049" y="642619"/>
                </a:lnTo>
                <a:close/>
              </a:path>
              <a:path w="1916430" h="1248410">
                <a:moveTo>
                  <a:pt x="38099" y="623569"/>
                </a:moveTo>
                <a:lnTo>
                  <a:pt x="36596" y="615949"/>
                </a:lnTo>
                <a:lnTo>
                  <a:pt x="32504" y="610869"/>
                </a:lnTo>
                <a:lnTo>
                  <a:pt x="26446" y="605789"/>
                </a:lnTo>
                <a:lnTo>
                  <a:pt x="19049" y="604519"/>
                </a:lnTo>
                <a:lnTo>
                  <a:pt x="39029" y="604519"/>
                </a:lnTo>
                <a:lnTo>
                  <a:pt x="38099" y="623569"/>
                </a:lnTo>
                <a:close/>
              </a:path>
              <a:path w="1916430" h="1248410">
                <a:moveTo>
                  <a:pt x="957929" y="1248409"/>
                </a:moveTo>
                <a:lnTo>
                  <a:pt x="900441" y="1247139"/>
                </a:lnTo>
                <a:lnTo>
                  <a:pt x="843748" y="1244599"/>
                </a:lnTo>
                <a:lnTo>
                  <a:pt x="787956" y="1238249"/>
                </a:lnTo>
                <a:lnTo>
                  <a:pt x="733173" y="1230629"/>
                </a:lnTo>
                <a:lnTo>
                  <a:pt x="679508" y="1221739"/>
                </a:lnTo>
                <a:lnTo>
                  <a:pt x="627069" y="1210309"/>
                </a:lnTo>
                <a:lnTo>
                  <a:pt x="575963" y="1196339"/>
                </a:lnTo>
                <a:lnTo>
                  <a:pt x="526298" y="1181099"/>
                </a:lnTo>
                <a:lnTo>
                  <a:pt x="478183" y="1164589"/>
                </a:lnTo>
                <a:lnTo>
                  <a:pt x="431724" y="1145539"/>
                </a:lnTo>
                <a:lnTo>
                  <a:pt x="387030" y="1125219"/>
                </a:lnTo>
                <a:lnTo>
                  <a:pt x="344209" y="1103629"/>
                </a:lnTo>
                <a:lnTo>
                  <a:pt x="303369" y="1080769"/>
                </a:lnTo>
                <a:lnTo>
                  <a:pt x="264617" y="1055369"/>
                </a:lnTo>
                <a:lnTo>
                  <a:pt x="228062" y="1028699"/>
                </a:lnTo>
                <a:lnTo>
                  <a:pt x="193811" y="1000759"/>
                </a:lnTo>
                <a:lnTo>
                  <a:pt x="161973" y="972819"/>
                </a:lnTo>
                <a:lnTo>
                  <a:pt x="132655" y="942339"/>
                </a:lnTo>
                <a:lnTo>
                  <a:pt x="105964" y="910589"/>
                </a:lnTo>
                <a:lnTo>
                  <a:pt x="82010" y="877569"/>
                </a:lnTo>
                <a:lnTo>
                  <a:pt x="60899" y="844549"/>
                </a:lnTo>
                <a:lnTo>
                  <a:pt x="42741" y="810259"/>
                </a:lnTo>
                <a:lnTo>
                  <a:pt x="27642" y="774699"/>
                </a:lnTo>
                <a:lnTo>
                  <a:pt x="15710" y="737869"/>
                </a:lnTo>
                <a:lnTo>
                  <a:pt x="1781" y="662939"/>
                </a:lnTo>
                <a:lnTo>
                  <a:pt x="0" y="623569"/>
                </a:lnTo>
                <a:lnTo>
                  <a:pt x="1503" y="631189"/>
                </a:lnTo>
                <a:lnTo>
                  <a:pt x="5595" y="637539"/>
                </a:lnTo>
                <a:lnTo>
                  <a:pt x="11653" y="641349"/>
                </a:lnTo>
                <a:lnTo>
                  <a:pt x="19049" y="642619"/>
                </a:lnTo>
                <a:lnTo>
                  <a:pt x="39029" y="642619"/>
                </a:lnTo>
                <a:lnTo>
                  <a:pt x="39874" y="660399"/>
                </a:lnTo>
                <a:lnTo>
                  <a:pt x="53768" y="731519"/>
                </a:lnTo>
                <a:lnTo>
                  <a:pt x="80797" y="800099"/>
                </a:lnTo>
                <a:lnTo>
                  <a:pt x="120167" y="864869"/>
                </a:lnTo>
                <a:lnTo>
                  <a:pt x="144231" y="896619"/>
                </a:lnTo>
                <a:lnTo>
                  <a:pt x="171084" y="927099"/>
                </a:lnTo>
                <a:lnTo>
                  <a:pt x="200624" y="956309"/>
                </a:lnTo>
                <a:lnTo>
                  <a:pt x="232753" y="984249"/>
                </a:lnTo>
                <a:lnTo>
                  <a:pt x="267373" y="1010919"/>
                </a:lnTo>
                <a:lnTo>
                  <a:pt x="304383" y="1036319"/>
                </a:lnTo>
                <a:lnTo>
                  <a:pt x="343684" y="1060449"/>
                </a:lnTo>
                <a:lnTo>
                  <a:pt x="385178" y="1082039"/>
                </a:lnTo>
                <a:lnTo>
                  <a:pt x="428765" y="1103629"/>
                </a:lnTo>
                <a:lnTo>
                  <a:pt x="474346" y="1122679"/>
                </a:lnTo>
                <a:lnTo>
                  <a:pt x="521821" y="1140459"/>
                </a:lnTo>
                <a:lnTo>
                  <a:pt x="571092" y="1155699"/>
                </a:lnTo>
                <a:lnTo>
                  <a:pt x="622060" y="1169669"/>
                </a:lnTo>
                <a:lnTo>
                  <a:pt x="674624" y="1182369"/>
                </a:lnTo>
                <a:lnTo>
                  <a:pt x="728686" y="1192529"/>
                </a:lnTo>
                <a:lnTo>
                  <a:pt x="784147" y="1200149"/>
                </a:lnTo>
                <a:lnTo>
                  <a:pt x="840907" y="1205229"/>
                </a:lnTo>
                <a:lnTo>
                  <a:pt x="898867" y="1209039"/>
                </a:lnTo>
                <a:lnTo>
                  <a:pt x="957929" y="1210309"/>
                </a:lnTo>
                <a:lnTo>
                  <a:pt x="1287881" y="1210309"/>
                </a:lnTo>
                <a:lnTo>
                  <a:pt x="1236349" y="1221739"/>
                </a:lnTo>
                <a:lnTo>
                  <a:pt x="1192355" y="1229359"/>
                </a:lnTo>
                <a:lnTo>
                  <a:pt x="957929" y="1229359"/>
                </a:lnTo>
                <a:lnTo>
                  <a:pt x="957929" y="1248409"/>
                </a:lnTo>
                <a:close/>
              </a:path>
              <a:path w="1916430" h="1248410">
                <a:moveTo>
                  <a:pt x="39029" y="642619"/>
                </a:moveTo>
                <a:lnTo>
                  <a:pt x="19049" y="642619"/>
                </a:lnTo>
                <a:lnTo>
                  <a:pt x="26446" y="641349"/>
                </a:lnTo>
                <a:lnTo>
                  <a:pt x="32504" y="637539"/>
                </a:lnTo>
                <a:lnTo>
                  <a:pt x="36596" y="631189"/>
                </a:lnTo>
                <a:lnTo>
                  <a:pt x="38099" y="623569"/>
                </a:lnTo>
                <a:lnTo>
                  <a:pt x="38967" y="641349"/>
                </a:lnTo>
                <a:lnTo>
                  <a:pt x="39029" y="642619"/>
                </a:lnTo>
                <a:close/>
              </a:path>
              <a:path w="1916430" h="1248410">
                <a:moveTo>
                  <a:pt x="957929" y="1248409"/>
                </a:moveTo>
                <a:lnTo>
                  <a:pt x="957929" y="1229359"/>
                </a:lnTo>
                <a:lnTo>
                  <a:pt x="1192355" y="1229359"/>
                </a:lnTo>
                <a:lnTo>
                  <a:pt x="1127902" y="1238249"/>
                </a:lnTo>
                <a:lnTo>
                  <a:pt x="1072110" y="1244599"/>
                </a:lnTo>
                <a:lnTo>
                  <a:pt x="1015416" y="1247139"/>
                </a:lnTo>
                <a:lnTo>
                  <a:pt x="957929" y="1248409"/>
                </a:lnTo>
                <a:close/>
              </a:path>
            </a:pathLst>
          </a:custGeom>
          <a:solidFill>
            <a:srgbClr val="8064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5153" rIns="0" bIns="0" rtlCol="0">
            <a:spAutoFit/>
          </a:bodyPr>
          <a:lstStyle/>
          <a:p>
            <a:pPr marL="1952625">
              <a:lnSpc>
                <a:spcPct val="100000"/>
              </a:lnSpc>
              <a:spcBef>
                <a:spcPts val="100"/>
              </a:spcBef>
            </a:pPr>
            <a:r>
              <a:rPr dirty="0"/>
              <a:t>FEASIBILITY</a:t>
            </a:r>
            <a:r>
              <a:rPr spc="20" dirty="0"/>
              <a:t> </a:t>
            </a:r>
            <a:r>
              <a:rPr spc="140" dirty="0"/>
              <a:t>AND</a:t>
            </a:r>
            <a:r>
              <a:rPr spc="20" dirty="0"/>
              <a:t> </a:t>
            </a:r>
            <a:r>
              <a:rPr spc="-10" dirty="0"/>
              <a:t>VIABILITY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121305" y="1891095"/>
            <a:ext cx="29222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i="1" dirty="0">
                <a:latin typeface="Arial"/>
                <a:cs typeface="Arial"/>
              </a:rPr>
              <a:t>Technical </a:t>
            </a:r>
            <a:r>
              <a:rPr sz="2400" b="1" i="1" spc="-10" dirty="0">
                <a:latin typeface="Arial"/>
                <a:cs typeface="Arial"/>
              </a:rPr>
              <a:t>feasibility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16644" y="2514179"/>
            <a:ext cx="3502660" cy="2523127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Technical Feasibility</a:t>
            </a:r>
            <a:endParaRPr lang="en-IN" sz="2000" dirty="0"/>
          </a:p>
          <a:p>
            <a:pPr lvl="0"/>
            <a:r>
              <a:rPr lang="en-IN" sz="2000" b="1" dirty="0"/>
              <a:t>     Proven tech:</a:t>
            </a:r>
            <a:r>
              <a:rPr lang="en-IN" sz="2000" dirty="0"/>
              <a:t> Mature tools </a:t>
            </a:r>
          </a:p>
          <a:p>
            <a:pPr lvl="0"/>
            <a:r>
              <a:rPr lang="en-IN" sz="2000" dirty="0"/>
              <a:t>     make the MVP buildable.                        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Scalable access:</a:t>
            </a:r>
            <a:r>
              <a:rPr lang="en-IN" sz="2000" dirty="0"/>
              <a:t> WhatsApp, IVR, and cloud APIs scale nationwide, DPDP-compliant.</a:t>
            </a:r>
          </a:p>
          <a:p>
            <a:endParaRPr lang="en-IN" sz="2000" dirty="0"/>
          </a:p>
        </p:txBody>
      </p:sp>
      <p:sp>
        <p:nvSpPr>
          <p:cNvPr id="32" name="object 32"/>
          <p:cNvSpPr/>
          <p:nvPr/>
        </p:nvSpPr>
        <p:spPr>
          <a:xfrm>
            <a:off x="4950430" y="1867328"/>
            <a:ext cx="0" cy="2591435"/>
          </a:xfrm>
          <a:custGeom>
            <a:avLst/>
            <a:gdLst/>
            <a:ahLst/>
            <a:cxnLst/>
            <a:rect l="l" t="t" r="r" b="b"/>
            <a:pathLst>
              <a:path h="2591435">
                <a:moveTo>
                  <a:pt x="0" y="2591384"/>
                </a:moveTo>
                <a:lnTo>
                  <a:pt x="0" y="0"/>
                </a:lnTo>
              </a:path>
            </a:pathLst>
          </a:custGeom>
          <a:ln w="38099">
            <a:solidFill>
              <a:srgbClr val="4866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5369109" y="1835647"/>
            <a:ext cx="3604895" cy="33573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i="1" dirty="0">
                <a:latin typeface="Arial"/>
                <a:cs typeface="Arial"/>
              </a:rPr>
              <a:t>Operational </a:t>
            </a:r>
            <a:r>
              <a:rPr sz="2400" b="1" i="1" spc="-10" dirty="0">
                <a:latin typeface="Arial"/>
                <a:cs typeface="Arial"/>
              </a:rPr>
              <a:t>feasibility</a:t>
            </a:r>
            <a:endParaRPr lang="en-IN" sz="2400" b="1" i="1" spc="-1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IN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Easy adoption:</a:t>
            </a:r>
            <a:r>
              <a:rPr lang="en-IN" sz="2000" dirty="0"/>
              <a:t> Regional voice and chat via WhatsApp and IVR, with NGO and CSC support.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Simple upkeep:</a:t>
            </a:r>
            <a:r>
              <a:rPr lang="en-IN" sz="2000" dirty="0"/>
              <a:t> AI auto-updates schemes, with light manual checks.</a:t>
            </a:r>
          </a:p>
          <a:p>
            <a:pPr marL="114300">
              <a:lnSpc>
                <a:spcPct val="100000"/>
              </a:lnSpc>
              <a:spcBef>
                <a:spcPts val="1480"/>
              </a:spcBef>
            </a:pPr>
            <a:endParaRPr sz="2000" dirty="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723809" y="2400300"/>
            <a:ext cx="3376616" cy="2587247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Economic Feasibility</a:t>
            </a:r>
            <a:endParaRPr lang="en-IN" sz="2000" dirty="0"/>
          </a:p>
          <a:p>
            <a:pPr lvl="0"/>
            <a:r>
              <a:rPr lang="en-IN" sz="2000" b="1" dirty="0"/>
              <a:t>     Low cost:</a:t>
            </a:r>
            <a:r>
              <a:rPr lang="en-IN" sz="2000" dirty="0"/>
              <a:t> Open-source     </a:t>
            </a:r>
          </a:p>
          <a:p>
            <a:pPr lvl="0"/>
            <a:r>
              <a:rPr lang="en-IN" sz="2000" dirty="0"/>
              <a:t>     tools.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Sustainable:</a:t>
            </a:r>
            <a:r>
              <a:rPr lang="en-IN" sz="2000" dirty="0"/>
              <a:t> Funded through government partnerships, CSR, and referral fees.</a:t>
            </a:r>
          </a:p>
          <a:p>
            <a:pPr marL="12700">
              <a:lnSpc>
                <a:spcPct val="100000"/>
              </a:lnSpc>
              <a:spcBef>
                <a:spcPts val="475"/>
              </a:spcBef>
            </a:pPr>
            <a:endParaRPr sz="2000" dirty="0">
              <a:latin typeface="Arial"/>
              <a:cs typeface="Arial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9232461" y="1867324"/>
            <a:ext cx="7620" cy="2591435"/>
          </a:xfrm>
          <a:custGeom>
            <a:avLst/>
            <a:gdLst/>
            <a:ahLst/>
            <a:cxnLst/>
            <a:rect l="l" t="t" r="r" b="b"/>
            <a:pathLst>
              <a:path w="7620" h="2591435">
                <a:moveTo>
                  <a:pt x="7131" y="2591384"/>
                </a:moveTo>
                <a:lnTo>
                  <a:pt x="0" y="0"/>
                </a:lnTo>
              </a:path>
            </a:pathLst>
          </a:custGeom>
          <a:ln w="38099">
            <a:solidFill>
              <a:srgbClr val="4866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9613079" y="1850820"/>
            <a:ext cx="32270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i="1" dirty="0">
                <a:latin typeface="Arial"/>
                <a:cs typeface="Arial"/>
              </a:rPr>
              <a:t>Economical </a:t>
            </a:r>
            <a:r>
              <a:rPr sz="2400" b="1" i="1" spc="-10" dirty="0">
                <a:latin typeface="Arial"/>
                <a:cs typeface="Arial"/>
              </a:rPr>
              <a:t>feasibility</a:t>
            </a:r>
            <a:endParaRPr sz="24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4115967" y="1835647"/>
            <a:ext cx="3523615" cy="361368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4475">
              <a:lnSpc>
                <a:spcPct val="100000"/>
              </a:lnSpc>
              <a:spcBef>
                <a:spcPts val="100"/>
              </a:spcBef>
            </a:pPr>
            <a:r>
              <a:rPr sz="2400" b="1" i="1" dirty="0">
                <a:latin typeface="Arial"/>
                <a:cs typeface="Arial"/>
              </a:rPr>
              <a:t>Strategic</a:t>
            </a:r>
            <a:r>
              <a:rPr sz="2400" b="1" i="1" spc="-105" dirty="0">
                <a:latin typeface="Arial"/>
                <a:cs typeface="Arial"/>
              </a:rPr>
              <a:t> </a:t>
            </a:r>
            <a:r>
              <a:rPr sz="2400" b="1" i="1" spc="-10" dirty="0">
                <a:latin typeface="Arial"/>
                <a:cs typeface="Arial"/>
              </a:rPr>
              <a:t>Viability</a:t>
            </a:r>
            <a:r>
              <a:rPr lang="en-IN" sz="2400" b="1" i="1" spc="-10" dirty="0">
                <a:latin typeface="Arial"/>
                <a:cs typeface="Arial"/>
              </a:rPr>
              <a:t> </a:t>
            </a:r>
          </a:p>
          <a:p>
            <a:pPr marL="244475">
              <a:lnSpc>
                <a:spcPct val="100000"/>
              </a:lnSpc>
              <a:spcBef>
                <a:spcPts val="100"/>
              </a:spcBef>
            </a:pPr>
            <a:endParaRPr lang="en-IN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Policy aligned:</a:t>
            </a:r>
            <a:r>
              <a:rPr lang="en-IN" sz="2000" dirty="0"/>
              <a:t> Supports Digital India, Atmanirbhar Bharat, and financial inclusion.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Scalable:</a:t>
            </a:r>
            <a:r>
              <a:rPr lang="en-IN" sz="2000" dirty="0"/>
              <a:t> Pilot in one district, then expand nationwide via government and NGO partnerships.</a:t>
            </a:r>
          </a:p>
          <a:p>
            <a:pPr marL="12700" marR="5080" algn="just">
              <a:lnSpc>
                <a:spcPct val="115100"/>
              </a:lnSpc>
              <a:spcBef>
                <a:spcPts val="1095"/>
              </a:spcBef>
            </a:pPr>
            <a:endParaRPr sz="1900" dirty="0">
              <a:latin typeface="Arial MT"/>
              <a:cs typeface="Arial MT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13604386" y="1854180"/>
            <a:ext cx="7620" cy="2591435"/>
          </a:xfrm>
          <a:custGeom>
            <a:avLst/>
            <a:gdLst/>
            <a:ahLst/>
            <a:cxnLst/>
            <a:rect l="l" t="t" r="r" b="b"/>
            <a:pathLst>
              <a:path w="7619" h="2591435">
                <a:moveTo>
                  <a:pt x="7131" y="2591384"/>
                </a:moveTo>
                <a:lnTo>
                  <a:pt x="0" y="0"/>
                </a:lnTo>
              </a:path>
            </a:pathLst>
          </a:custGeom>
          <a:ln w="38099">
            <a:solidFill>
              <a:srgbClr val="4866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577921" y="4930775"/>
            <a:ext cx="6033135" cy="453887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16890" algn="ctr">
              <a:lnSpc>
                <a:spcPct val="100000"/>
              </a:lnSpc>
              <a:spcBef>
                <a:spcPts val="100"/>
              </a:spcBef>
            </a:pPr>
            <a:r>
              <a:rPr sz="2400" b="1" i="1" dirty="0">
                <a:latin typeface="Arial"/>
                <a:cs typeface="Arial"/>
              </a:rPr>
              <a:t>Potential </a:t>
            </a:r>
            <a:r>
              <a:rPr sz="2400" b="1" i="1" spc="-10" dirty="0">
                <a:latin typeface="Arial"/>
                <a:cs typeface="Arial"/>
              </a:rPr>
              <a:t>challenges</a:t>
            </a:r>
            <a:endParaRPr lang="en-IN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User trust:</a:t>
            </a:r>
            <a:r>
              <a:rPr lang="en-IN" sz="2400" dirty="0"/>
              <a:t> Fear of fraud and reliance on middlemen. </a:t>
            </a:r>
            <a:r>
              <a:rPr lang="en-IN" sz="2400" i="1" dirty="0"/>
              <a:t>Fix:</a:t>
            </a:r>
            <a:r>
              <a:rPr lang="en-IN" sz="2400" dirty="0"/>
              <a:t> Verified government sources and NGO community champions.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Data privacy:</a:t>
            </a:r>
            <a:r>
              <a:rPr lang="en-IN" sz="2400" dirty="0"/>
              <a:t> Sensitive details like caste and income. </a:t>
            </a:r>
            <a:r>
              <a:rPr lang="en-IN" sz="2400" i="1" dirty="0"/>
              <a:t>Fix:</a:t>
            </a:r>
            <a:r>
              <a:rPr lang="en-IN" sz="2400" dirty="0"/>
              <a:t> Consent-based use, encryption, DPDP compliance.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Last-mile gap:</a:t>
            </a:r>
            <a:r>
              <a:rPr lang="en-IN" sz="2400" dirty="0"/>
              <a:t> Missing documents and approval delays. </a:t>
            </a:r>
            <a:r>
              <a:rPr lang="en-IN" sz="2400" i="1" dirty="0"/>
              <a:t>Fix:</a:t>
            </a:r>
            <a:r>
              <a:rPr lang="en-IN" sz="2400" dirty="0"/>
              <a:t> Digi Locker checklist and assisted follow-up.</a:t>
            </a:r>
          </a:p>
          <a:p>
            <a:pPr marR="516890" algn="ctr">
              <a:lnSpc>
                <a:spcPct val="100000"/>
              </a:lnSpc>
              <a:spcBef>
                <a:spcPts val="100"/>
              </a:spcBef>
            </a:pPr>
            <a:endParaRPr sz="2400" dirty="0">
              <a:latin typeface="Arial"/>
              <a:cs typeface="Arial"/>
            </a:endParaRPr>
          </a:p>
          <a:p>
            <a:pPr marR="5080" algn="just">
              <a:lnSpc>
                <a:spcPct val="131300"/>
              </a:lnSpc>
              <a:spcBef>
                <a:spcPts val="675"/>
              </a:spcBef>
            </a:pPr>
            <a:endParaRPr sz="2000" dirty="0">
              <a:latin typeface="Arial MT"/>
              <a:cs typeface="Arial MT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084029" y="4930775"/>
            <a:ext cx="6238129" cy="452604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1465">
              <a:lnSpc>
                <a:spcPct val="100000"/>
              </a:lnSpc>
              <a:spcBef>
                <a:spcPts val="100"/>
              </a:spcBef>
            </a:pPr>
            <a:r>
              <a:rPr sz="2400" b="1" i="1" dirty="0">
                <a:latin typeface="Arial"/>
                <a:cs typeface="Arial"/>
              </a:rPr>
              <a:t>Strategies</a:t>
            </a:r>
            <a:r>
              <a:rPr sz="2400" b="1" i="1" spc="-80" dirty="0">
                <a:latin typeface="Arial"/>
                <a:cs typeface="Arial"/>
              </a:rPr>
              <a:t> </a:t>
            </a:r>
            <a:r>
              <a:rPr sz="2400" b="1" i="1" dirty="0">
                <a:latin typeface="Arial"/>
                <a:cs typeface="Arial"/>
              </a:rPr>
              <a:t>to</a:t>
            </a:r>
            <a:r>
              <a:rPr sz="2400" b="1" i="1" spc="-75" dirty="0">
                <a:latin typeface="Arial"/>
                <a:cs typeface="Arial"/>
              </a:rPr>
              <a:t> </a:t>
            </a:r>
            <a:r>
              <a:rPr sz="2400" b="1" i="1" dirty="0">
                <a:latin typeface="Arial"/>
                <a:cs typeface="Arial"/>
              </a:rPr>
              <a:t>overcome</a:t>
            </a:r>
            <a:r>
              <a:rPr sz="2400" b="1" i="1" spc="-75" dirty="0">
                <a:latin typeface="Arial"/>
                <a:cs typeface="Arial"/>
              </a:rPr>
              <a:t> </a:t>
            </a:r>
            <a:r>
              <a:rPr sz="2400" b="1" i="1" spc="-10" dirty="0">
                <a:latin typeface="Arial"/>
                <a:cs typeface="Arial"/>
              </a:rPr>
              <a:t>challenges</a:t>
            </a:r>
            <a:endParaRPr lang="en-IN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Build trust:</a:t>
            </a:r>
            <a:r>
              <a:rPr lang="en-IN" sz="2000" dirty="0"/>
              <a:t> Show only verified government schemes with official source links, and use NGOs, self-help groups, and CSC agents as local champions to onboard users in person.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Protect data:</a:t>
            </a:r>
            <a:r>
              <a:rPr lang="en-IN" sz="2000" dirty="0"/>
              <a:t> Collect only essential details with clear user consent, encrypt all data, and follow the DPDP Act with a transparent privacy policy in regional languages.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Close the last mile:</a:t>
            </a:r>
            <a:r>
              <a:rPr lang="en-IN" sz="2000" dirty="0"/>
              <a:t> Give each user a personalized document checklist with Digi Locker integration, and assign CSC or NGO volunteers to follow up.</a:t>
            </a:r>
          </a:p>
          <a:p>
            <a:endParaRPr lang="en-IN" sz="2000" dirty="0"/>
          </a:p>
          <a:p>
            <a:pPr marR="5080" algn="just">
              <a:lnSpc>
                <a:spcPct val="131200"/>
              </a:lnSpc>
              <a:spcBef>
                <a:spcPts val="675"/>
              </a:spcBef>
            </a:pPr>
            <a:endParaRPr sz="2000" dirty="0">
              <a:latin typeface="Arial MT"/>
              <a:cs typeface="Arial MT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455091" y="4962525"/>
            <a:ext cx="13063219" cy="3855720"/>
          </a:xfrm>
          <a:custGeom>
            <a:avLst/>
            <a:gdLst/>
            <a:ahLst/>
            <a:cxnLst/>
            <a:rect l="l" t="t" r="r" b="b"/>
            <a:pathLst>
              <a:path w="13063219" h="3855720">
                <a:moveTo>
                  <a:pt x="0" y="0"/>
                </a:moveTo>
                <a:lnTo>
                  <a:pt x="13063051" y="0"/>
                </a:lnTo>
                <a:lnTo>
                  <a:pt x="13063051" y="3855689"/>
                </a:lnTo>
                <a:lnTo>
                  <a:pt x="0" y="3855689"/>
                </a:lnTo>
                <a:lnTo>
                  <a:pt x="0" y="0"/>
                </a:lnTo>
                <a:close/>
              </a:path>
            </a:pathLst>
          </a:custGeom>
          <a:ln w="57149">
            <a:solidFill>
              <a:srgbClr val="0070C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901784" y="6673850"/>
            <a:ext cx="1822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 b="1" i="1" spc="-50" dirty="0">
                <a:solidFill>
                  <a:srgbClr val="FFFFFF"/>
                </a:solidFill>
                <a:latin typeface="Arial"/>
                <a:cs typeface="Arial"/>
              </a:rPr>
              <a:t>7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44" name="object 4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760"/>
              </a:lnSpc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F5CAB56-ECAB-C1B1-F8E0-47BB25BF21E6}"/>
              </a:ext>
            </a:extLst>
          </p:cNvPr>
          <p:cNvSpPr txBox="1"/>
          <p:nvPr/>
        </p:nvSpPr>
        <p:spPr>
          <a:xfrm>
            <a:off x="455091" y="422840"/>
            <a:ext cx="148971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/>
              <a:t>OFF BY ONE</a:t>
            </a:r>
          </a:p>
        </p:txBody>
      </p:sp>
      <p:pic>
        <p:nvPicPr>
          <p:cNvPr id="4" name="Picture 3" descr="Swavalambane Program to Empower Rural Women Entrepreneurs in K'taka">
            <a:extLst>
              <a:ext uri="{FF2B5EF4-FFF2-40B4-BE49-F238E27FC236}">
                <a16:creationId xmlns:a16="http://schemas.microsoft.com/office/drawing/2014/main" id="{B0C152F4-061A-0048-6677-34783C27A5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07205" y="5625950"/>
            <a:ext cx="3925704" cy="3044109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07924DE7-32A2-6F14-1933-501B94AB322A}"/>
              </a:ext>
            </a:extLst>
          </p:cNvPr>
          <p:cNvSpPr txBox="1"/>
          <p:nvPr/>
        </p:nvSpPr>
        <p:spPr>
          <a:xfrm>
            <a:off x="13907205" y="8846680"/>
            <a:ext cx="3925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rgbClr val="0070C0"/>
                </a:solidFill>
                <a:latin typeface="Arial Black" panose="020B0A04020102020204" pitchFamily="34" charset="0"/>
              </a:rPr>
              <a:t>REAL ENTREPRENEUR</a:t>
            </a:r>
          </a:p>
        </p:txBody>
      </p:sp>
      <p:pic>
        <p:nvPicPr>
          <p:cNvPr id="6" name="Picture 5" descr="A logo with text and a green light bulb&#10;&#10;AI-generated content may be incorrect.">
            <a:extLst>
              <a:ext uri="{FF2B5EF4-FFF2-40B4-BE49-F238E27FC236}">
                <a16:creationId xmlns:a16="http://schemas.microsoft.com/office/drawing/2014/main" id="{C1350D93-B3A6-E523-F733-8C92BB6532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68600" y="337068"/>
            <a:ext cx="2403147" cy="11440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0884" rIns="0" bIns="0" rtlCol="0">
            <a:spAutoFit/>
          </a:bodyPr>
          <a:lstStyle/>
          <a:p>
            <a:pPr marL="2881630">
              <a:lnSpc>
                <a:spcPct val="100000"/>
              </a:lnSpc>
              <a:spcBef>
                <a:spcPts val="100"/>
              </a:spcBef>
            </a:pPr>
            <a:r>
              <a:rPr spc="65" dirty="0"/>
              <a:t>IMPACT</a:t>
            </a:r>
            <a:r>
              <a:rPr spc="10" dirty="0"/>
              <a:t> </a:t>
            </a:r>
            <a:r>
              <a:rPr spc="140" dirty="0"/>
              <a:t>AND</a:t>
            </a:r>
            <a:r>
              <a:rPr spc="10" dirty="0"/>
              <a:t> </a:t>
            </a:r>
            <a:r>
              <a:rPr spc="35" dirty="0"/>
              <a:t>BENEFITS</a:t>
            </a:r>
          </a:p>
        </p:txBody>
      </p:sp>
      <p:sp>
        <p:nvSpPr>
          <p:cNvPr id="3" name="object 3"/>
          <p:cNvSpPr/>
          <p:nvPr/>
        </p:nvSpPr>
        <p:spPr>
          <a:xfrm>
            <a:off x="475609" y="359318"/>
            <a:ext cx="1916430" cy="1248410"/>
          </a:xfrm>
          <a:custGeom>
            <a:avLst/>
            <a:gdLst/>
            <a:ahLst/>
            <a:cxnLst/>
            <a:rect l="l" t="t" r="r" b="b"/>
            <a:pathLst>
              <a:path w="1916430" h="1248410">
                <a:moveTo>
                  <a:pt x="0" y="623569"/>
                </a:moveTo>
                <a:lnTo>
                  <a:pt x="1662" y="588009"/>
                </a:lnTo>
                <a:lnTo>
                  <a:pt x="1781" y="585469"/>
                </a:lnTo>
                <a:lnTo>
                  <a:pt x="7054" y="547369"/>
                </a:lnTo>
                <a:lnTo>
                  <a:pt x="15710" y="509269"/>
                </a:lnTo>
                <a:lnTo>
                  <a:pt x="42741" y="438149"/>
                </a:lnTo>
                <a:lnTo>
                  <a:pt x="60899" y="403859"/>
                </a:lnTo>
                <a:lnTo>
                  <a:pt x="82010" y="369569"/>
                </a:lnTo>
                <a:lnTo>
                  <a:pt x="105964" y="336549"/>
                </a:lnTo>
                <a:lnTo>
                  <a:pt x="132655" y="306069"/>
                </a:lnTo>
                <a:lnTo>
                  <a:pt x="161973" y="275589"/>
                </a:lnTo>
                <a:lnTo>
                  <a:pt x="193811" y="246379"/>
                </a:lnTo>
                <a:lnTo>
                  <a:pt x="228062" y="218439"/>
                </a:lnTo>
                <a:lnTo>
                  <a:pt x="264617" y="193039"/>
                </a:lnTo>
                <a:lnTo>
                  <a:pt x="303369" y="167639"/>
                </a:lnTo>
                <a:lnTo>
                  <a:pt x="344209" y="143509"/>
                </a:lnTo>
                <a:lnTo>
                  <a:pt x="387030" y="121919"/>
                </a:lnTo>
                <a:lnTo>
                  <a:pt x="431724" y="101599"/>
                </a:lnTo>
                <a:lnTo>
                  <a:pt x="478183" y="82549"/>
                </a:lnTo>
                <a:lnTo>
                  <a:pt x="526298" y="66039"/>
                </a:lnTo>
                <a:lnTo>
                  <a:pt x="575963" y="50799"/>
                </a:lnTo>
                <a:lnTo>
                  <a:pt x="627069" y="38099"/>
                </a:lnTo>
                <a:lnTo>
                  <a:pt x="679509" y="26669"/>
                </a:lnTo>
                <a:lnTo>
                  <a:pt x="733173" y="16509"/>
                </a:lnTo>
                <a:lnTo>
                  <a:pt x="787956" y="8889"/>
                </a:lnTo>
                <a:lnTo>
                  <a:pt x="843748" y="3809"/>
                </a:lnTo>
                <a:lnTo>
                  <a:pt x="900441" y="0"/>
                </a:lnTo>
                <a:lnTo>
                  <a:pt x="1015416" y="0"/>
                </a:lnTo>
                <a:lnTo>
                  <a:pt x="1072110" y="3809"/>
                </a:lnTo>
                <a:lnTo>
                  <a:pt x="1127902" y="8889"/>
                </a:lnTo>
                <a:lnTo>
                  <a:pt x="1182684" y="16509"/>
                </a:lnTo>
                <a:lnTo>
                  <a:pt x="1192355" y="19049"/>
                </a:lnTo>
                <a:lnTo>
                  <a:pt x="957929" y="19049"/>
                </a:lnTo>
                <a:lnTo>
                  <a:pt x="957929" y="38099"/>
                </a:lnTo>
                <a:lnTo>
                  <a:pt x="898867" y="38099"/>
                </a:lnTo>
                <a:lnTo>
                  <a:pt x="840907" y="41909"/>
                </a:lnTo>
                <a:lnTo>
                  <a:pt x="784147" y="48259"/>
                </a:lnTo>
                <a:lnTo>
                  <a:pt x="728686" y="55879"/>
                </a:lnTo>
                <a:lnTo>
                  <a:pt x="674624" y="66039"/>
                </a:lnTo>
                <a:lnTo>
                  <a:pt x="622060" y="77469"/>
                </a:lnTo>
                <a:lnTo>
                  <a:pt x="571092" y="91439"/>
                </a:lnTo>
                <a:lnTo>
                  <a:pt x="521821" y="107949"/>
                </a:lnTo>
                <a:lnTo>
                  <a:pt x="474346" y="125729"/>
                </a:lnTo>
                <a:lnTo>
                  <a:pt x="428765" y="144779"/>
                </a:lnTo>
                <a:lnTo>
                  <a:pt x="385178" y="165099"/>
                </a:lnTo>
                <a:lnTo>
                  <a:pt x="343684" y="187959"/>
                </a:lnTo>
                <a:lnTo>
                  <a:pt x="304383" y="212089"/>
                </a:lnTo>
                <a:lnTo>
                  <a:pt x="267373" y="237489"/>
                </a:lnTo>
                <a:lnTo>
                  <a:pt x="232753" y="264159"/>
                </a:lnTo>
                <a:lnTo>
                  <a:pt x="200624" y="292099"/>
                </a:lnTo>
                <a:lnTo>
                  <a:pt x="171084" y="321309"/>
                </a:lnTo>
                <a:lnTo>
                  <a:pt x="144232" y="351789"/>
                </a:lnTo>
                <a:lnTo>
                  <a:pt x="120167" y="382269"/>
                </a:lnTo>
                <a:lnTo>
                  <a:pt x="98989" y="415289"/>
                </a:lnTo>
                <a:lnTo>
                  <a:pt x="65691" y="481329"/>
                </a:lnTo>
                <a:lnTo>
                  <a:pt x="45130" y="551179"/>
                </a:lnTo>
                <a:lnTo>
                  <a:pt x="39029" y="604519"/>
                </a:lnTo>
                <a:lnTo>
                  <a:pt x="19049" y="604519"/>
                </a:lnTo>
                <a:lnTo>
                  <a:pt x="11653" y="605789"/>
                </a:lnTo>
                <a:lnTo>
                  <a:pt x="5595" y="610869"/>
                </a:lnTo>
                <a:lnTo>
                  <a:pt x="1503" y="615949"/>
                </a:lnTo>
                <a:lnTo>
                  <a:pt x="0" y="623569"/>
                </a:lnTo>
                <a:close/>
              </a:path>
              <a:path w="1916430" h="1248410">
                <a:moveTo>
                  <a:pt x="1288788" y="1210309"/>
                </a:moveTo>
                <a:lnTo>
                  <a:pt x="957929" y="1210309"/>
                </a:lnTo>
                <a:lnTo>
                  <a:pt x="1016990" y="1209039"/>
                </a:lnTo>
                <a:lnTo>
                  <a:pt x="1074951" y="1205229"/>
                </a:lnTo>
                <a:lnTo>
                  <a:pt x="1131711" y="1200149"/>
                </a:lnTo>
                <a:lnTo>
                  <a:pt x="1187172" y="1192529"/>
                </a:lnTo>
                <a:lnTo>
                  <a:pt x="1241234" y="1182369"/>
                </a:lnTo>
                <a:lnTo>
                  <a:pt x="1293798" y="1169669"/>
                </a:lnTo>
                <a:lnTo>
                  <a:pt x="1344765" y="1155699"/>
                </a:lnTo>
                <a:lnTo>
                  <a:pt x="1394036" y="1140459"/>
                </a:lnTo>
                <a:lnTo>
                  <a:pt x="1441511" y="1122679"/>
                </a:lnTo>
                <a:lnTo>
                  <a:pt x="1487092" y="1103629"/>
                </a:lnTo>
                <a:lnTo>
                  <a:pt x="1530679" y="1082039"/>
                </a:lnTo>
                <a:lnTo>
                  <a:pt x="1572173" y="1060449"/>
                </a:lnTo>
                <a:lnTo>
                  <a:pt x="1611475" y="1036319"/>
                </a:lnTo>
                <a:lnTo>
                  <a:pt x="1648485" y="1010919"/>
                </a:lnTo>
                <a:lnTo>
                  <a:pt x="1683104" y="984249"/>
                </a:lnTo>
                <a:lnTo>
                  <a:pt x="1715233" y="956309"/>
                </a:lnTo>
                <a:lnTo>
                  <a:pt x="1744774" y="927099"/>
                </a:lnTo>
                <a:lnTo>
                  <a:pt x="1771626" y="896619"/>
                </a:lnTo>
                <a:lnTo>
                  <a:pt x="1795690" y="864869"/>
                </a:lnTo>
                <a:lnTo>
                  <a:pt x="1816868" y="833119"/>
                </a:lnTo>
                <a:lnTo>
                  <a:pt x="1850167" y="765809"/>
                </a:lnTo>
                <a:lnTo>
                  <a:pt x="1870728" y="695959"/>
                </a:lnTo>
                <a:lnTo>
                  <a:pt x="1877758" y="623569"/>
                </a:lnTo>
                <a:lnTo>
                  <a:pt x="1875984" y="588009"/>
                </a:lnTo>
                <a:lnTo>
                  <a:pt x="1862092" y="516889"/>
                </a:lnTo>
                <a:lnTo>
                  <a:pt x="1835068" y="448309"/>
                </a:lnTo>
                <a:lnTo>
                  <a:pt x="1795705" y="382269"/>
                </a:lnTo>
                <a:lnTo>
                  <a:pt x="1771645" y="351789"/>
                </a:lnTo>
                <a:lnTo>
                  <a:pt x="1744796" y="321309"/>
                </a:lnTo>
                <a:lnTo>
                  <a:pt x="1715259" y="292099"/>
                </a:lnTo>
                <a:lnTo>
                  <a:pt x="1683134" y="264159"/>
                </a:lnTo>
                <a:lnTo>
                  <a:pt x="1648517" y="237489"/>
                </a:lnTo>
                <a:lnTo>
                  <a:pt x="1611510" y="212089"/>
                </a:lnTo>
                <a:lnTo>
                  <a:pt x="1572211" y="187959"/>
                </a:lnTo>
                <a:lnTo>
                  <a:pt x="1530719" y="165099"/>
                </a:lnTo>
                <a:lnTo>
                  <a:pt x="1487134" y="144779"/>
                </a:lnTo>
                <a:lnTo>
                  <a:pt x="1441554" y="125729"/>
                </a:lnTo>
                <a:lnTo>
                  <a:pt x="1394078" y="107949"/>
                </a:lnTo>
                <a:lnTo>
                  <a:pt x="1344806" y="91439"/>
                </a:lnTo>
                <a:lnTo>
                  <a:pt x="1293837" y="77469"/>
                </a:lnTo>
                <a:lnTo>
                  <a:pt x="1241269" y="66039"/>
                </a:lnTo>
                <a:lnTo>
                  <a:pt x="1187203" y="55879"/>
                </a:lnTo>
                <a:lnTo>
                  <a:pt x="1131737" y="48259"/>
                </a:lnTo>
                <a:lnTo>
                  <a:pt x="1074969" y="41909"/>
                </a:lnTo>
                <a:lnTo>
                  <a:pt x="1017000" y="38099"/>
                </a:lnTo>
                <a:lnTo>
                  <a:pt x="957929" y="38099"/>
                </a:lnTo>
                <a:lnTo>
                  <a:pt x="957929" y="19049"/>
                </a:lnTo>
                <a:lnTo>
                  <a:pt x="1192355" y="19049"/>
                </a:lnTo>
                <a:lnTo>
                  <a:pt x="1236349" y="26669"/>
                </a:lnTo>
                <a:lnTo>
                  <a:pt x="1288788" y="38099"/>
                </a:lnTo>
                <a:lnTo>
                  <a:pt x="1339894" y="50799"/>
                </a:lnTo>
                <a:lnTo>
                  <a:pt x="1389559" y="66039"/>
                </a:lnTo>
                <a:lnTo>
                  <a:pt x="1437675" y="82549"/>
                </a:lnTo>
                <a:lnTo>
                  <a:pt x="1484133" y="101599"/>
                </a:lnTo>
                <a:lnTo>
                  <a:pt x="1528827" y="121919"/>
                </a:lnTo>
                <a:lnTo>
                  <a:pt x="1571648" y="143509"/>
                </a:lnTo>
                <a:lnTo>
                  <a:pt x="1612488" y="167639"/>
                </a:lnTo>
                <a:lnTo>
                  <a:pt x="1651240" y="193039"/>
                </a:lnTo>
                <a:lnTo>
                  <a:pt x="1687795" y="218439"/>
                </a:lnTo>
                <a:lnTo>
                  <a:pt x="1722046" y="246379"/>
                </a:lnTo>
                <a:lnTo>
                  <a:pt x="1753885" y="275589"/>
                </a:lnTo>
                <a:lnTo>
                  <a:pt x="1783203" y="306069"/>
                </a:lnTo>
                <a:lnTo>
                  <a:pt x="1809893" y="336549"/>
                </a:lnTo>
                <a:lnTo>
                  <a:pt x="1833848" y="369569"/>
                </a:lnTo>
                <a:lnTo>
                  <a:pt x="1854958" y="403859"/>
                </a:lnTo>
                <a:lnTo>
                  <a:pt x="1873117" y="438149"/>
                </a:lnTo>
                <a:lnTo>
                  <a:pt x="1888216" y="473709"/>
                </a:lnTo>
                <a:lnTo>
                  <a:pt x="1908804" y="547369"/>
                </a:lnTo>
                <a:lnTo>
                  <a:pt x="1914076" y="585469"/>
                </a:lnTo>
                <a:lnTo>
                  <a:pt x="1915858" y="623569"/>
                </a:lnTo>
                <a:lnTo>
                  <a:pt x="1914191" y="660399"/>
                </a:lnTo>
                <a:lnTo>
                  <a:pt x="1908804" y="701039"/>
                </a:lnTo>
                <a:lnTo>
                  <a:pt x="1888216" y="774699"/>
                </a:lnTo>
                <a:lnTo>
                  <a:pt x="1873117" y="810259"/>
                </a:lnTo>
                <a:lnTo>
                  <a:pt x="1854958" y="844549"/>
                </a:lnTo>
                <a:lnTo>
                  <a:pt x="1833848" y="877569"/>
                </a:lnTo>
                <a:lnTo>
                  <a:pt x="1809893" y="910589"/>
                </a:lnTo>
                <a:lnTo>
                  <a:pt x="1783203" y="942339"/>
                </a:lnTo>
                <a:lnTo>
                  <a:pt x="1753885" y="972819"/>
                </a:lnTo>
                <a:lnTo>
                  <a:pt x="1722046" y="1000759"/>
                </a:lnTo>
                <a:lnTo>
                  <a:pt x="1687795" y="1028699"/>
                </a:lnTo>
                <a:lnTo>
                  <a:pt x="1651240" y="1055369"/>
                </a:lnTo>
                <a:lnTo>
                  <a:pt x="1612488" y="1080769"/>
                </a:lnTo>
                <a:lnTo>
                  <a:pt x="1571648" y="1103629"/>
                </a:lnTo>
                <a:lnTo>
                  <a:pt x="1528827" y="1125219"/>
                </a:lnTo>
                <a:lnTo>
                  <a:pt x="1484133" y="1145539"/>
                </a:lnTo>
                <a:lnTo>
                  <a:pt x="1437675" y="1164589"/>
                </a:lnTo>
                <a:lnTo>
                  <a:pt x="1389559" y="1181099"/>
                </a:lnTo>
                <a:lnTo>
                  <a:pt x="1339894" y="1196339"/>
                </a:lnTo>
                <a:lnTo>
                  <a:pt x="1288788" y="1210309"/>
                </a:lnTo>
                <a:close/>
              </a:path>
              <a:path w="1916430" h="1248410">
                <a:moveTo>
                  <a:pt x="19049" y="642619"/>
                </a:moveTo>
                <a:lnTo>
                  <a:pt x="11653" y="641349"/>
                </a:lnTo>
                <a:lnTo>
                  <a:pt x="5595" y="637539"/>
                </a:lnTo>
                <a:lnTo>
                  <a:pt x="1503" y="631189"/>
                </a:lnTo>
                <a:lnTo>
                  <a:pt x="0" y="623569"/>
                </a:lnTo>
                <a:lnTo>
                  <a:pt x="1503" y="615949"/>
                </a:lnTo>
                <a:lnTo>
                  <a:pt x="5595" y="610869"/>
                </a:lnTo>
                <a:lnTo>
                  <a:pt x="11653" y="605789"/>
                </a:lnTo>
                <a:lnTo>
                  <a:pt x="19049" y="604519"/>
                </a:lnTo>
                <a:lnTo>
                  <a:pt x="26446" y="605789"/>
                </a:lnTo>
                <a:lnTo>
                  <a:pt x="32504" y="610869"/>
                </a:lnTo>
                <a:lnTo>
                  <a:pt x="36596" y="615949"/>
                </a:lnTo>
                <a:lnTo>
                  <a:pt x="38100" y="623569"/>
                </a:lnTo>
                <a:lnTo>
                  <a:pt x="36596" y="631189"/>
                </a:lnTo>
                <a:lnTo>
                  <a:pt x="32504" y="637539"/>
                </a:lnTo>
                <a:lnTo>
                  <a:pt x="26446" y="641349"/>
                </a:lnTo>
                <a:lnTo>
                  <a:pt x="19049" y="642619"/>
                </a:lnTo>
                <a:close/>
              </a:path>
              <a:path w="1916430" h="1248410">
                <a:moveTo>
                  <a:pt x="38100" y="623569"/>
                </a:moveTo>
                <a:lnTo>
                  <a:pt x="36596" y="615949"/>
                </a:lnTo>
                <a:lnTo>
                  <a:pt x="32504" y="610869"/>
                </a:lnTo>
                <a:lnTo>
                  <a:pt x="26446" y="605789"/>
                </a:lnTo>
                <a:lnTo>
                  <a:pt x="19049" y="604519"/>
                </a:lnTo>
                <a:lnTo>
                  <a:pt x="39029" y="604519"/>
                </a:lnTo>
                <a:lnTo>
                  <a:pt x="38100" y="623569"/>
                </a:lnTo>
                <a:close/>
              </a:path>
              <a:path w="1916430" h="1248410">
                <a:moveTo>
                  <a:pt x="957929" y="1248409"/>
                </a:moveTo>
                <a:lnTo>
                  <a:pt x="900441" y="1247139"/>
                </a:lnTo>
                <a:lnTo>
                  <a:pt x="843748" y="1244599"/>
                </a:lnTo>
                <a:lnTo>
                  <a:pt x="787956" y="1238249"/>
                </a:lnTo>
                <a:lnTo>
                  <a:pt x="733173" y="1230629"/>
                </a:lnTo>
                <a:lnTo>
                  <a:pt x="679509" y="1221739"/>
                </a:lnTo>
                <a:lnTo>
                  <a:pt x="627069" y="1210309"/>
                </a:lnTo>
                <a:lnTo>
                  <a:pt x="575963" y="1196339"/>
                </a:lnTo>
                <a:lnTo>
                  <a:pt x="526298" y="1181099"/>
                </a:lnTo>
                <a:lnTo>
                  <a:pt x="478183" y="1164589"/>
                </a:lnTo>
                <a:lnTo>
                  <a:pt x="431724" y="1145539"/>
                </a:lnTo>
                <a:lnTo>
                  <a:pt x="387030" y="1125219"/>
                </a:lnTo>
                <a:lnTo>
                  <a:pt x="344209" y="1103629"/>
                </a:lnTo>
                <a:lnTo>
                  <a:pt x="303369" y="1080769"/>
                </a:lnTo>
                <a:lnTo>
                  <a:pt x="264617" y="1055369"/>
                </a:lnTo>
                <a:lnTo>
                  <a:pt x="228062" y="1028699"/>
                </a:lnTo>
                <a:lnTo>
                  <a:pt x="193811" y="1000759"/>
                </a:lnTo>
                <a:lnTo>
                  <a:pt x="161973" y="972819"/>
                </a:lnTo>
                <a:lnTo>
                  <a:pt x="132655" y="942339"/>
                </a:lnTo>
                <a:lnTo>
                  <a:pt x="105964" y="910589"/>
                </a:lnTo>
                <a:lnTo>
                  <a:pt x="82010" y="877569"/>
                </a:lnTo>
                <a:lnTo>
                  <a:pt x="60899" y="844549"/>
                </a:lnTo>
                <a:lnTo>
                  <a:pt x="42741" y="810259"/>
                </a:lnTo>
                <a:lnTo>
                  <a:pt x="27642" y="774699"/>
                </a:lnTo>
                <a:lnTo>
                  <a:pt x="15710" y="737869"/>
                </a:lnTo>
                <a:lnTo>
                  <a:pt x="1781" y="662939"/>
                </a:lnTo>
                <a:lnTo>
                  <a:pt x="0" y="623569"/>
                </a:lnTo>
                <a:lnTo>
                  <a:pt x="1503" y="631189"/>
                </a:lnTo>
                <a:lnTo>
                  <a:pt x="5595" y="637539"/>
                </a:lnTo>
                <a:lnTo>
                  <a:pt x="11653" y="641349"/>
                </a:lnTo>
                <a:lnTo>
                  <a:pt x="19049" y="642619"/>
                </a:lnTo>
                <a:lnTo>
                  <a:pt x="39029" y="642619"/>
                </a:lnTo>
                <a:lnTo>
                  <a:pt x="39874" y="660399"/>
                </a:lnTo>
                <a:lnTo>
                  <a:pt x="53768" y="731519"/>
                </a:lnTo>
                <a:lnTo>
                  <a:pt x="80797" y="800099"/>
                </a:lnTo>
                <a:lnTo>
                  <a:pt x="120167" y="864869"/>
                </a:lnTo>
                <a:lnTo>
                  <a:pt x="144232" y="896619"/>
                </a:lnTo>
                <a:lnTo>
                  <a:pt x="171084" y="927099"/>
                </a:lnTo>
                <a:lnTo>
                  <a:pt x="200624" y="956309"/>
                </a:lnTo>
                <a:lnTo>
                  <a:pt x="232753" y="984249"/>
                </a:lnTo>
                <a:lnTo>
                  <a:pt x="267373" y="1010919"/>
                </a:lnTo>
                <a:lnTo>
                  <a:pt x="304383" y="1036319"/>
                </a:lnTo>
                <a:lnTo>
                  <a:pt x="343684" y="1060449"/>
                </a:lnTo>
                <a:lnTo>
                  <a:pt x="385178" y="1082039"/>
                </a:lnTo>
                <a:lnTo>
                  <a:pt x="428765" y="1103629"/>
                </a:lnTo>
                <a:lnTo>
                  <a:pt x="474346" y="1122679"/>
                </a:lnTo>
                <a:lnTo>
                  <a:pt x="521821" y="1140459"/>
                </a:lnTo>
                <a:lnTo>
                  <a:pt x="571092" y="1155699"/>
                </a:lnTo>
                <a:lnTo>
                  <a:pt x="622060" y="1169669"/>
                </a:lnTo>
                <a:lnTo>
                  <a:pt x="674624" y="1182369"/>
                </a:lnTo>
                <a:lnTo>
                  <a:pt x="728686" y="1192529"/>
                </a:lnTo>
                <a:lnTo>
                  <a:pt x="784147" y="1200149"/>
                </a:lnTo>
                <a:lnTo>
                  <a:pt x="840907" y="1205229"/>
                </a:lnTo>
                <a:lnTo>
                  <a:pt x="898867" y="1209039"/>
                </a:lnTo>
                <a:lnTo>
                  <a:pt x="957929" y="1210309"/>
                </a:lnTo>
                <a:lnTo>
                  <a:pt x="1287881" y="1210309"/>
                </a:lnTo>
                <a:lnTo>
                  <a:pt x="1236349" y="1221739"/>
                </a:lnTo>
                <a:lnTo>
                  <a:pt x="1192355" y="1229359"/>
                </a:lnTo>
                <a:lnTo>
                  <a:pt x="957929" y="1229359"/>
                </a:lnTo>
                <a:lnTo>
                  <a:pt x="957929" y="1248409"/>
                </a:lnTo>
                <a:close/>
              </a:path>
              <a:path w="1916430" h="1248410">
                <a:moveTo>
                  <a:pt x="39029" y="642619"/>
                </a:moveTo>
                <a:lnTo>
                  <a:pt x="19049" y="642619"/>
                </a:lnTo>
                <a:lnTo>
                  <a:pt x="26446" y="641349"/>
                </a:lnTo>
                <a:lnTo>
                  <a:pt x="32504" y="637539"/>
                </a:lnTo>
                <a:lnTo>
                  <a:pt x="36596" y="631189"/>
                </a:lnTo>
                <a:lnTo>
                  <a:pt x="38100" y="623569"/>
                </a:lnTo>
                <a:lnTo>
                  <a:pt x="38967" y="641349"/>
                </a:lnTo>
                <a:lnTo>
                  <a:pt x="39029" y="642619"/>
                </a:lnTo>
                <a:close/>
              </a:path>
              <a:path w="1916430" h="1248410">
                <a:moveTo>
                  <a:pt x="957929" y="1248409"/>
                </a:moveTo>
                <a:lnTo>
                  <a:pt x="957929" y="1229359"/>
                </a:lnTo>
                <a:lnTo>
                  <a:pt x="1192355" y="1229359"/>
                </a:lnTo>
                <a:lnTo>
                  <a:pt x="1127902" y="1238249"/>
                </a:lnTo>
                <a:lnTo>
                  <a:pt x="1072110" y="1244599"/>
                </a:lnTo>
                <a:lnTo>
                  <a:pt x="1015416" y="1247139"/>
                </a:lnTo>
                <a:lnTo>
                  <a:pt x="957929" y="1248409"/>
                </a:lnTo>
                <a:close/>
              </a:path>
            </a:pathLst>
          </a:custGeom>
          <a:solidFill>
            <a:srgbClr val="8064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760"/>
              </a:lnSpc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82D066E-8DA1-1D88-AC9C-720A0CCE0E32}"/>
              </a:ext>
            </a:extLst>
          </p:cNvPr>
          <p:cNvSpPr txBox="1"/>
          <p:nvPr/>
        </p:nvSpPr>
        <p:spPr>
          <a:xfrm>
            <a:off x="475609" y="582002"/>
            <a:ext cx="193238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/>
              <a:t>OFF BY ONE</a:t>
            </a:r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4C0C4474-32CD-4C1E-9DF7-03556A0016EF}"/>
              </a:ext>
            </a:extLst>
          </p:cNvPr>
          <p:cNvSpPr/>
          <p:nvPr/>
        </p:nvSpPr>
        <p:spPr>
          <a:xfrm>
            <a:off x="7468422" y="3771900"/>
            <a:ext cx="2362200" cy="22860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57150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latin typeface="Aptos Narrow" panose="020B0004020202020204" pitchFamily="34" charset="0"/>
              </a:rPr>
              <a:t>AI SCHEME </a:t>
            </a:r>
          </a:p>
          <a:p>
            <a:pPr algn="ctr"/>
            <a:r>
              <a:rPr lang="en-IN" sz="2800" b="1" dirty="0">
                <a:latin typeface="Aptos Narrow" panose="020B0004020202020204" pitchFamily="34" charset="0"/>
              </a:rPr>
              <a:t>MATCHER </a:t>
            </a:r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E9E28EA6-5644-19D5-CBF7-4117DFD52A77}"/>
              </a:ext>
            </a:extLst>
          </p:cNvPr>
          <p:cNvSpPr/>
          <p:nvPr/>
        </p:nvSpPr>
        <p:spPr>
          <a:xfrm>
            <a:off x="10819951" y="4152900"/>
            <a:ext cx="1753049" cy="1676400"/>
          </a:xfrm>
          <a:prstGeom prst="ellipse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latin typeface="Aptos Narrow" panose="020B0004020202020204" pitchFamily="34" charset="0"/>
              </a:rPr>
              <a:t>Benefits</a:t>
            </a:r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DA4E865B-684B-898E-A97C-4C8500C16A90}"/>
              </a:ext>
            </a:extLst>
          </p:cNvPr>
          <p:cNvSpPr/>
          <p:nvPr/>
        </p:nvSpPr>
        <p:spPr>
          <a:xfrm>
            <a:off x="4764144" y="4152900"/>
            <a:ext cx="1753049" cy="167640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latin typeface="Aptos Narrow" panose="020B0004020202020204" pitchFamily="34" charset="0"/>
              </a:rPr>
              <a:t>Impacts</a:t>
            </a:r>
          </a:p>
        </p:txBody>
      </p: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8EF4733E-BCCB-8C7B-C0F9-F535A320968D}"/>
              </a:ext>
            </a:extLst>
          </p:cNvPr>
          <p:cNvCxnSpPr>
            <a:cxnSpLocks/>
          </p:cNvCxnSpPr>
          <p:nvPr/>
        </p:nvCxnSpPr>
        <p:spPr>
          <a:xfrm>
            <a:off x="6517193" y="4953000"/>
            <a:ext cx="914400" cy="0"/>
          </a:xfrm>
          <a:prstGeom prst="line">
            <a:avLst/>
          </a:prstGeom>
          <a:ln w="38100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6D94DB1A-BDE2-3BBC-085E-7D8164A87850}"/>
              </a:ext>
            </a:extLst>
          </p:cNvPr>
          <p:cNvCxnSpPr>
            <a:cxnSpLocks/>
            <a:endCxn id="90" idx="2"/>
          </p:cNvCxnSpPr>
          <p:nvPr/>
        </p:nvCxnSpPr>
        <p:spPr>
          <a:xfrm>
            <a:off x="9830622" y="4991100"/>
            <a:ext cx="989329" cy="0"/>
          </a:xfrm>
          <a:prstGeom prst="line">
            <a:avLst/>
          </a:prstGeom>
          <a:ln w="38100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02" name="Rectangle 101">
            <a:extLst>
              <a:ext uri="{FF2B5EF4-FFF2-40B4-BE49-F238E27FC236}">
                <a16:creationId xmlns:a16="http://schemas.microsoft.com/office/drawing/2014/main" id="{026974D2-C9EB-79ED-A2C5-4FF54F973765}"/>
              </a:ext>
            </a:extLst>
          </p:cNvPr>
          <p:cNvSpPr/>
          <p:nvPr/>
        </p:nvSpPr>
        <p:spPr>
          <a:xfrm>
            <a:off x="14325600" y="2161079"/>
            <a:ext cx="3352800" cy="12192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en-IN" sz="2800" b="1" dirty="0"/>
              <a:t>Less debt </a:t>
            </a:r>
          </a:p>
          <a:p>
            <a:pPr algn="l"/>
            <a:r>
              <a:rPr lang="en-IN" sz="2000" dirty="0"/>
              <a:t>Formal loans and subsidies replace costly moneylenders 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BC934E75-4C51-283C-33F5-5177F8973688}"/>
              </a:ext>
            </a:extLst>
          </p:cNvPr>
          <p:cNvSpPr/>
          <p:nvPr/>
        </p:nvSpPr>
        <p:spPr>
          <a:xfrm>
            <a:off x="14325600" y="3657600"/>
            <a:ext cx="3352800" cy="12192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en-IN" sz="2800" b="1" dirty="0"/>
              <a:t>Women-led growth </a:t>
            </a:r>
          </a:p>
          <a:p>
            <a:pPr algn="l"/>
            <a:r>
              <a:rPr lang="en-IN" sz="2000" dirty="0"/>
              <a:t>More women run business through inclusive access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287B92FE-631D-E3FA-DDA2-8162C8115D9C}"/>
              </a:ext>
            </a:extLst>
          </p:cNvPr>
          <p:cNvSpPr/>
          <p:nvPr/>
        </p:nvSpPr>
        <p:spPr>
          <a:xfrm>
            <a:off x="14325600" y="5067300"/>
            <a:ext cx="3352800" cy="12192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en-IN" sz="2800" b="1" dirty="0"/>
              <a:t>Less dependence </a:t>
            </a:r>
          </a:p>
          <a:p>
            <a:pPr algn="l"/>
            <a:r>
              <a:rPr lang="en-IN" sz="2000" dirty="0"/>
              <a:t>Lower cost and less fraud 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3402F028-F729-2EA6-510F-A35C5218AC94}"/>
              </a:ext>
            </a:extLst>
          </p:cNvPr>
          <p:cNvSpPr/>
          <p:nvPr/>
        </p:nvSpPr>
        <p:spPr>
          <a:xfrm>
            <a:off x="14325600" y="6513922"/>
            <a:ext cx="3352800" cy="12192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en-IN" sz="2800" b="1" dirty="0"/>
              <a:t>Business growth </a:t>
            </a:r>
          </a:p>
          <a:p>
            <a:pPr algn="l"/>
            <a:r>
              <a:rPr lang="en-IN" sz="2000" dirty="0"/>
              <a:t>Support to start, run, and expand values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AD7156BC-3C87-50EB-0600-60308A082718}"/>
              </a:ext>
            </a:extLst>
          </p:cNvPr>
          <p:cNvSpPr/>
          <p:nvPr/>
        </p:nvSpPr>
        <p:spPr>
          <a:xfrm>
            <a:off x="14325600" y="7935144"/>
            <a:ext cx="3352800" cy="12192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en-IN" sz="2800" b="1" dirty="0"/>
              <a:t>Higher scheme take</a:t>
            </a:r>
          </a:p>
          <a:p>
            <a:pPr algn="l"/>
            <a:r>
              <a:rPr lang="en-IN" sz="2000" dirty="0"/>
              <a:t>More eligible people actually apply and receive support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37730B30-1F3F-807D-DD14-932E56FDEAA0}"/>
              </a:ext>
            </a:extLst>
          </p:cNvPr>
          <p:cNvSpPr/>
          <p:nvPr/>
        </p:nvSpPr>
        <p:spPr>
          <a:xfrm>
            <a:off x="374752" y="8097276"/>
            <a:ext cx="3352800" cy="121920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en-IN" sz="2800" b="1" dirty="0"/>
              <a:t>Villages and towns</a:t>
            </a:r>
          </a:p>
          <a:p>
            <a:pPr algn="l"/>
            <a:r>
              <a:rPr lang="en-IN" sz="2000" dirty="0"/>
              <a:t>New local jobs and a stronger local economy 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B3E011FC-8FD8-4A06-2C13-5EEA4EC00BC8}"/>
              </a:ext>
            </a:extLst>
          </p:cNvPr>
          <p:cNvSpPr/>
          <p:nvPr/>
        </p:nvSpPr>
        <p:spPr>
          <a:xfrm>
            <a:off x="374752" y="6614621"/>
            <a:ext cx="3352800" cy="121920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en-IN" sz="2800" b="1" dirty="0"/>
              <a:t>NGOs and CSCs</a:t>
            </a:r>
          </a:p>
          <a:p>
            <a:pPr algn="l"/>
            <a:r>
              <a:rPr lang="en-IN" sz="2000" dirty="0"/>
              <a:t>Faster, more organized support for the people they serve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6BD2FDE5-1704-ACF2-4894-B66B97F8B391}"/>
              </a:ext>
            </a:extLst>
          </p:cNvPr>
          <p:cNvSpPr/>
          <p:nvPr/>
        </p:nvSpPr>
        <p:spPr>
          <a:xfrm>
            <a:off x="380751" y="5143500"/>
            <a:ext cx="3352800" cy="121920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en-IN" sz="2800" b="1" dirty="0"/>
              <a:t>Banks and Officers</a:t>
            </a:r>
          </a:p>
          <a:p>
            <a:pPr algn="l"/>
            <a:r>
              <a:rPr lang="en-IN" sz="2000" dirty="0"/>
              <a:t>Fewer rejected applications, since users apply only for schemes they qualify for.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D853379F-9E9D-E501-483A-0B52179D08D0}"/>
              </a:ext>
            </a:extLst>
          </p:cNvPr>
          <p:cNvSpPr/>
          <p:nvPr/>
        </p:nvSpPr>
        <p:spPr>
          <a:xfrm>
            <a:off x="380751" y="3672379"/>
            <a:ext cx="3352800" cy="121920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en-IN" sz="2800" b="1" dirty="0"/>
              <a:t>Families</a:t>
            </a:r>
          </a:p>
          <a:p>
            <a:pPr algn="l"/>
            <a:r>
              <a:rPr lang="en-IN" sz="2000" dirty="0"/>
              <a:t>Steadier household income from stronger small business</a:t>
            </a: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A0734A21-E948-306D-C33A-EEC1EF887F70}"/>
              </a:ext>
            </a:extLst>
          </p:cNvPr>
          <p:cNvSpPr/>
          <p:nvPr/>
        </p:nvSpPr>
        <p:spPr>
          <a:xfrm>
            <a:off x="380751" y="2247900"/>
            <a:ext cx="3352800" cy="121920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en-IN" sz="2800" b="1" dirty="0">
                <a:solidFill>
                  <a:schemeClr val="tx1"/>
                </a:solidFill>
                <a:latin typeface="Aptos Narrow" panose="020B0004020202020204" pitchFamily="34" charset="0"/>
              </a:rPr>
              <a:t>Entrepreneurs</a:t>
            </a:r>
          </a:p>
          <a:p>
            <a:pPr algn="l"/>
            <a:r>
              <a:rPr lang="en-IN" sz="2000" dirty="0"/>
              <a:t>Discover and access schemes they never knew about</a:t>
            </a:r>
          </a:p>
          <a:p>
            <a:pPr algn="l"/>
            <a:endParaRPr lang="en-IN" dirty="0"/>
          </a:p>
        </p:txBody>
      </p: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76B318F5-8D69-CDC4-2CFA-EE5EEB40E0E4}"/>
              </a:ext>
            </a:extLst>
          </p:cNvPr>
          <p:cNvCxnSpPr>
            <a:stCxn id="120" idx="3"/>
          </p:cNvCxnSpPr>
          <p:nvPr/>
        </p:nvCxnSpPr>
        <p:spPr>
          <a:xfrm>
            <a:off x="3733551" y="2857500"/>
            <a:ext cx="1752849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871A00D1-3482-91DE-A654-CB26211F4FA2}"/>
              </a:ext>
            </a:extLst>
          </p:cNvPr>
          <p:cNvCxnSpPr/>
          <p:nvPr/>
        </p:nvCxnSpPr>
        <p:spPr>
          <a:xfrm>
            <a:off x="3733551" y="8724900"/>
            <a:ext cx="1752849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E3922150-DDBB-0AC3-59FD-10F97BE3D5B9}"/>
              </a:ext>
            </a:extLst>
          </p:cNvPr>
          <p:cNvCxnSpPr>
            <a:cxnSpLocks/>
          </p:cNvCxnSpPr>
          <p:nvPr/>
        </p:nvCxnSpPr>
        <p:spPr>
          <a:xfrm>
            <a:off x="3733551" y="6896100"/>
            <a:ext cx="1030593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F0CAF66B-E142-186C-4B02-D89426307D1C}"/>
              </a:ext>
            </a:extLst>
          </p:cNvPr>
          <p:cNvCxnSpPr>
            <a:cxnSpLocks/>
          </p:cNvCxnSpPr>
          <p:nvPr/>
        </p:nvCxnSpPr>
        <p:spPr>
          <a:xfrm>
            <a:off x="3733551" y="3949700"/>
            <a:ext cx="1030593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3E63E5CD-F1C3-17DD-1E33-6093C3173235}"/>
              </a:ext>
            </a:extLst>
          </p:cNvPr>
          <p:cNvCxnSpPr>
            <a:cxnSpLocks/>
          </p:cNvCxnSpPr>
          <p:nvPr/>
        </p:nvCxnSpPr>
        <p:spPr>
          <a:xfrm>
            <a:off x="3733551" y="5372100"/>
            <a:ext cx="1143249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8B935153-9FB0-8683-9974-9AEADF6FD8AA}"/>
              </a:ext>
            </a:extLst>
          </p:cNvPr>
          <p:cNvCxnSpPr>
            <a:cxnSpLocks/>
          </p:cNvCxnSpPr>
          <p:nvPr/>
        </p:nvCxnSpPr>
        <p:spPr>
          <a:xfrm flipH="1" flipV="1">
            <a:off x="12954000" y="3835401"/>
            <a:ext cx="1371600" cy="12699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A6F3E39E-F612-28CE-8396-071DA001721E}"/>
              </a:ext>
            </a:extLst>
          </p:cNvPr>
          <p:cNvCxnSpPr/>
          <p:nvPr/>
        </p:nvCxnSpPr>
        <p:spPr>
          <a:xfrm>
            <a:off x="5486400" y="2857500"/>
            <a:ext cx="0" cy="129540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D3C2B31C-BEE9-7770-0A3C-FC02D6830434}"/>
              </a:ext>
            </a:extLst>
          </p:cNvPr>
          <p:cNvCxnSpPr/>
          <p:nvPr/>
        </p:nvCxnSpPr>
        <p:spPr>
          <a:xfrm flipV="1">
            <a:off x="5486400" y="5829300"/>
            <a:ext cx="0" cy="289560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29F5FF38-2FBA-F688-0F6D-8DDBCCAF3ABA}"/>
              </a:ext>
            </a:extLst>
          </p:cNvPr>
          <p:cNvCxnSpPr>
            <a:endCxn id="92" idx="1"/>
          </p:cNvCxnSpPr>
          <p:nvPr/>
        </p:nvCxnSpPr>
        <p:spPr>
          <a:xfrm>
            <a:off x="4764144" y="3949700"/>
            <a:ext cx="256728" cy="448703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F36F5639-45DF-8320-625A-454EE1E4A740}"/>
              </a:ext>
            </a:extLst>
          </p:cNvPr>
          <p:cNvCxnSpPr/>
          <p:nvPr/>
        </p:nvCxnSpPr>
        <p:spPr>
          <a:xfrm flipV="1">
            <a:off x="4764144" y="5676900"/>
            <a:ext cx="417456" cy="121920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F74FBA65-D6F5-769A-C37B-8D02E3664BCE}"/>
              </a:ext>
            </a:extLst>
          </p:cNvPr>
          <p:cNvCxnSpPr>
            <a:cxnSpLocks/>
            <a:stCxn id="102" idx="1"/>
          </p:cNvCxnSpPr>
          <p:nvPr/>
        </p:nvCxnSpPr>
        <p:spPr>
          <a:xfrm flipH="1">
            <a:off x="11811000" y="2770679"/>
            <a:ext cx="2514600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9EBA9C35-D6AB-67B7-5C2C-845967F1644E}"/>
              </a:ext>
            </a:extLst>
          </p:cNvPr>
          <p:cNvCxnSpPr>
            <a:cxnSpLocks/>
          </p:cNvCxnSpPr>
          <p:nvPr/>
        </p:nvCxnSpPr>
        <p:spPr>
          <a:xfrm flipH="1">
            <a:off x="13144500" y="6627321"/>
            <a:ext cx="1181100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CFEB9E78-B559-AC5B-82BF-9093DC9844B2}"/>
              </a:ext>
            </a:extLst>
          </p:cNvPr>
          <p:cNvCxnSpPr>
            <a:cxnSpLocks/>
          </p:cNvCxnSpPr>
          <p:nvPr/>
        </p:nvCxnSpPr>
        <p:spPr>
          <a:xfrm flipH="1">
            <a:off x="11963400" y="8534123"/>
            <a:ext cx="2362200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60" name="Straight Connector 159">
            <a:extLst>
              <a:ext uri="{FF2B5EF4-FFF2-40B4-BE49-F238E27FC236}">
                <a16:creationId xmlns:a16="http://schemas.microsoft.com/office/drawing/2014/main" id="{C4702556-62EF-E773-7383-071412F8D2BF}"/>
              </a:ext>
            </a:extLst>
          </p:cNvPr>
          <p:cNvCxnSpPr>
            <a:cxnSpLocks/>
          </p:cNvCxnSpPr>
          <p:nvPr/>
        </p:nvCxnSpPr>
        <p:spPr>
          <a:xfrm flipH="1">
            <a:off x="12573000" y="5219700"/>
            <a:ext cx="1752600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674680A8-CDD5-250D-FE1A-7EFE7A36D27E}"/>
              </a:ext>
            </a:extLst>
          </p:cNvPr>
          <p:cNvCxnSpPr/>
          <p:nvPr/>
        </p:nvCxnSpPr>
        <p:spPr>
          <a:xfrm>
            <a:off x="11811000" y="2770679"/>
            <a:ext cx="0" cy="1403372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40CBCC45-3F6E-E457-B8B6-D41AAF955EF7}"/>
              </a:ext>
            </a:extLst>
          </p:cNvPr>
          <p:cNvCxnSpPr>
            <a:cxnSpLocks/>
            <a:stCxn id="90" idx="5"/>
          </p:cNvCxnSpPr>
          <p:nvPr/>
        </p:nvCxnSpPr>
        <p:spPr>
          <a:xfrm>
            <a:off x="12316272" y="5583797"/>
            <a:ext cx="828228" cy="1030824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A73F2E6E-26E7-76EC-FC03-2E8DFF768B79}"/>
              </a:ext>
            </a:extLst>
          </p:cNvPr>
          <p:cNvCxnSpPr>
            <a:endCxn id="90" idx="7"/>
          </p:cNvCxnSpPr>
          <p:nvPr/>
        </p:nvCxnSpPr>
        <p:spPr>
          <a:xfrm flipH="1">
            <a:off x="12316272" y="3848100"/>
            <a:ext cx="637728" cy="550303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2574D048-F7C7-E684-137D-6FEE2CFEFEA4}"/>
              </a:ext>
            </a:extLst>
          </p:cNvPr>
          <p:cNvCxnSpPr/>
          <p:nvPr/>
        </p:nvCxnSpPr>
        <p:spPr>
          <a:xfrm flipV="1">
            <a:off x="11963400" y="5829300"/>
            <a:ext cx="0" cy="2715444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pic>
        <p:nvPicPr>
          <p:cNvPr id="5" name="Picture 4" descr="A logo with text and a green light bulb&#10;&#10;AI-generated content may be incorrect.">
            <a:extLst>
              <a:ext uri="{FF2B5EF4-FFF2-40B4-BE49-F238E27FC236}">
                <a16:creationId xmlns:a16="http://schemas.microsoft.com/office/drawing/2014/main" id="{5D655643-C12C-E044-2E04-66D891D447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68600" y="337068"/>
            <a:ext cx="2403147" cy="11440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5153" rIns="0" bIns="0" rtlCol="0">
            <a:spAutoFit/>
          </a:bodyPr>
          <a:lstStyle/>
          <a:p>
            <a:pPr marL="1640839">
              <a:lnSpc>
                <a:spcPct val="100000"/>
              </a:lnSpc>
              <a:spcBef>
                <a:spcPts val="100"/>
              </a:spcBef>
            </a:pPr>
            <a:r>
              <a:rPr dirty="0"/>
              <a:t>RESEARCH</a:t>
            </a:r>
            <a:r>
              <a:rPr spc="100" dirty="0"/>
              <a:t>  </a:t>
            </a:r>
            <a:r>
              <a:rPr spc="140" dirty="0"/>
              <a:t>AND</a:t>
            </a:r>
            <a:r>
              <a:rPr spc="100" dirty="0"/>
              <a:t> </a:t>
            </a:r>
            <a:r>
              <a:rPr spc="-10" dirty="0"/>
              <a:t>REFERENCES</a:t>
            </a:r>
          </a:p>
        </p:txBody>
      </p:sp>
      <p:sp>
        <p:nvSpPr>
          <p:cNvPr id="4" name="object 4"/>
          <p:cNvSpPr/>
          <p:nvPr/>
        </p:nvSpPr>
        <p:spPr>
          <a:xfrm>
            <a:off x="475609" y="359318"/>
            <a:ext cx="1916430" cy="1248410"/>
          </a:xfrm>
          <a:custGeom>
            <a:avLst/>
            <a:gdLst/>
            <a:ahLst/>
            <a:cxnLst/>
            <a:rect l="l" t="t" r="r" b="b"/>
            <a:pathLst>
              <a:path w="1916430" h="1248410">
                <a:moveTo>
                  <a:pt x="0" y="623569"/>
                </a:moveTo>
                <a:lnTo>
                  <a:pt x="1662" y="588009"/>
                </a:lnTo>
                <a:lnTo>
                  <a:pt x="1781" y="585469"/>
                </a:lnTo>
                <a:lnTo>
                  <a:pt x="7054" y="547369"/>
                </a:lnTo>
                <a:lnTo>
                  <a:pt x="15710" y="509269"/>
                </a:lnTo>
                <a:lnTo>
                  <a:pt x="42741" y="438149"/>
                </a:lnTo>
                <a:lnTo>
                  <a:pt x="60899" y="403859"/>
                </a:lnTo>
                <a:lnTo>
                  <a:pt x="82010" y="369569"/>
                </a:lnTo>
                <a:lnTo>
                  <a:pt x="105964" y="336549"/>
                </a:lnTo>
                <a:lnTo>
                  <a:pt x="132655" y="306069"/>
                </a:lnTo>
                <a:lnTo>
                  <a:pt x="161973" y="275589"/>
                </a:lnTo>
                <a:lnTo>
                  <a:pt x="193811" y="246379"/>
                </a:lnTo>
                <a:lnTo>
                  <a:pt x="228062" y="218439"/>
                </a:lnTo>
                <a:lnTo>
                  <a:pt x="264617" y="193039"/>
                </a:lnTo>
                <a:lnTo>
                  <a:pt x="303369" y="167639"/>
                </a:lnTo>
                <a:lnTo>
                  <a:pt x="344209" y="143509"/>
                </a:lnTo>
                <a:lnTo>
                  <a:pt x="387030" y="121919"/>
                </a:lnTo>
                <a:lnTo>
                  <a:pt x="431724" y="101599"/>
                </a:lnTo>
                <a:lnTo>
                  <a:pt x="478183" y="82549"/>
                </a:lnTo>
                <a:lnTo>
                  <a:pt x="526298" y="66039"/>
                </a:lnTo>
                <a:lnTo>
                  <a:pt x="575963" y="50799"/>
                </a:lnTo>
                <a:lnTo>
                  <a:pt x="627069" y="38099"/>
                </a:lnTo>
                <a:lnTo>
                  <a:pt x="679509" y="26669"/>
                </a:lnTo>
                <a:lnTo>
                  <a:pt x="733173" y="16509"/>
                </a:lnTo>
                <a:lnTo>
                  <a:pt x="787956" y="8889"/>
                </a:lnTo>
                <a:lnTo>
                  <a:pt x="843748" y="3809"/>
                </a:lnTo>
                <a:lnTo>
                  <a:pt x="900441" y="0"/>
                </a:lnTo>
                <a:lnTo>
                  <a:pt x="1015416" y="0"/>
                </a:lnTo>
                <a:lnTo>
                  <a:pt x="1072110" y="3809"/>
                </a:lnTo>
                <a:lnTo>
                  <a:pt x="1127902" y="8889"/>
                </a:lnTo>
                <a:lnTo>
                  <a:pt x="1182684" y="16509"/>
                </a:lnTo>
                <a:lnTo>
                  <a:pt x="1192355" y="19049"/>
                </a:lnTo>
                <a:lnTo>
                  <a:pt x="957929" y="19049"/>
                </a:lnTo>
                <a:lnTo>
                  <a:pt x="957929" y="38099"/>
                </a:lnTo>
                <a:lnTo>
                  <a:pt x="898867" y="38099"/>
                </a:lnTo>
                <a:lnTo>
                  <a:pt x="840907" y="41909"/>
                </a:lnTo>
                <a:lnTo>
                  <a:pt x="784147" y="48259"/>
                </a:lnTo>
                <a:lnTo>
                  <a:pt x="728686" y="55879"/>
                </a:lnTo>
                <a:lnTo>
                  <a:pt x="674624" y="66039"/>
                </a:lnTo>
                <a:lnTo>
                  <a:pt x="622060" y="77469"/>
                </a:lnTo>
                <a:lnTo>
                  <a:pt x="571092" y="91439"/>
                </a:lnTo>
                <a:lnTo>
                  <a:pt x="521821" y="107949"/>
                </a:lnTo>
                <a:lnTo>
                  <a:pt x="474346" y="125729"/>
                </a:lnTo>
                <a:lnTo>
                  <a:pt x="428765" y="144779"/>
                </a:lnTo>
                <a:lnTo>
                  <a:pt x="385178" y="165099"/>
                </a:lnTo>
                <a:lnTo>
                  <a:pt x="343684" y="187959"/>
                </a:lnTo>
                <a:lnTo>
                  <a:pt x="304383" y="212089"/>
                </a:lnTo>
                <a:lnTo>
                  <a:pt x="267373" y="237489"/>
                </a:lnTo>
                <a:lnTo>
                  <a:pt x="232753" y="264159"/>
                </a:lnTo>
                <a:lnTo>
                  <a:pt x="200624" y="292099"/>
                </a:lnTo>
                <a:lnTo>
                  <a:pt x="171084" y="321309"/>
                </a:lnTo>
                <a:lnTo>
                  <a:pt x="144232" y="351789"/>
                </a:lnTo>
                <a:lnTo>
                  <a:pt x="120167" y="382269"/>
                </a:lnTo>
                <a:lnTo>
                  <a:pt x="98989" y="415289"/>
                </a:lnTo>
                <a:lnTo>
                  <a:pt x="65691" y="481329"/>
                </a:lnTo>
                <a:lnTo>
                  <a:pt x="45130" y="551179"/>
                </a:lnTo>
                <a:lnTo>
                  <a:pt x="39029" y="604519"/>
                </a:lnTo>
                <a:lnTo>
                  <a:pt x="19049" y="604519"/>
                </a:lnTo>
                <a:lnTo>
                  <a:pt x="11653" y="605789"/>
                </a:lnTo>
                <a:lnTo>
                  <a:pt x="5595" y="610869"/>
                </a:lnTo>
                <a:lnTo>
                  <a:pt x="1503" y="615949"/>
                </a:lnTo>
                <a:lnTo>
                  <a:pt x="0" y="623569"/>
                </a:lnTo>
                <a:close/>
              </a:path>
              <a:path w="1916430" h="1248410">
                <a:moveTo>
                  <a:pt x="1288788" y="1210309"/>
                </a:moveTo>
                <a:lnTo>
                  <a:pt x="957929" y="1210309"/>
                </a:lnTo>
                <a:lnTo>
                  <a:pt x="1016990" y="1209039"/>
                </a:lnTo>
                <a:lnTo>
                  <a:pt x="1074951" y="1205229"/>
                </a:lnTo>
                <a:lnTo>
                  <a:pt x="1131711" y="1200149"/>
                </a:lnTo>
                <a:lnTo>
                  <a:pt x="1187172" y="1192529"/>
                </a:lnTo>
                <a:lnTo>
                  <a:pt x="1241234" y="1182369"/>
                </a:lnTo>
                <a:lnTo>
                  <a:pt x="1293798" y="1169669"/>
                </a:lnTo>
                <a:lnTo>
                  <a:pt x="1344765" y="1155699"/>
                </a:lnTo>
                <a:lnTo>
                  <a:pt x="1394036" y="1140459"/>
                </a:lnTo>
                <a:lnTo>
                  <a:pt x="1441511" y="1122679"/>
                </a:lnTo>
                <a:lnTo>
                  <a:pt x="1487092" y="1103629"/>
                </a:lnTo>
                <a:lnTo>
                  <a:pt x="1530679" y="1082039"/>
                </a:lnTo>
                <a:lnTo>
                  <a:pt x="1572173" y="1060449"/>
                </a:lnTo>
                <a:lnTo>
                  <a:pt x="1611475" y="1036319"/>
                </a:lnTo>
                <a:lnTo>
                  <a:pt x="1648485" y="1010919"/>
                </a:lnTo>
                <a:lnTo>
                  <a:pt x="1683104" y="984249"/>
                </a:lnTo>
                <a:lnTo>
                  <a:pt x="1715233" y="956309"/>
                </a:lnTo>
                <a:lnTo>
                  <a:pt x="1744774" y="927099"/>
                </a:lnTo>
                <a:lnTo>
                  <a:pt x="1771626" y="896619"/>
                </a:lnTo>
                <a:lnTo>
                  <a:pt x="1795690" y="864869"/>
                </a:lnTo>
                <a:lnTo>
                  <a:pt x="1816868" y="833119"/>
                </a:lnTo>
                <a:lnTo>
                  <a:pt x="1850167" y="765809"/>
                </a:lnTo>
                <a:lnTo>
                  <a:pt x="1870728" y="695959"/>
                </a:lnTo>
                <a:lnTo>
                  <a:pt x="1877758" y="623569"/>
                </a:lnTo>
                <a:lnTo>
                  <a:pt x="1875984" y="588009"/>
                </a:lnTo>
                <a:lnTo>
                  <a:pt x="1862092" y="516889"/>
                </a:lnTo>
                <a:lnTo>
                  <a:pt x="1835068" y="448309"/>
                </a:lnTo>
                <a:lnTo>
                  <a:pt x="1795705" y="382269"/>
                </a:lnTo>
                <a:lnTo>
                  <a:pt x="1771645" y="351789"/>
                </a:lnTo>
                <a:lnTo>
                  <a:pt x="1744796" y="321309"/>
                </a:lnTo>
                <a:lnTo>
                  <a:pt x="1715259" y="292099"/>
                </a:lnTo>
                <a:lnTo>
                  <a:pt x="1683134" y="264159"/>
                </a:lnTo>
                <a:lnTo>
                  <a:pt x="1648517" y="237489"/>
                </a:lnTo>
                <a:lnTo>
                  <a:pt x="1611510" y="212089"/>
                </a:lnTo>
                <a:lnTo>
                  <a:pt x="1572211" y="187959"/>
                </a:lnTo>
                <a:lnTo>
                  <a:pt x="1530719" y="165099"/>
                </a:lnTo>
                <a:lnTo>
                  <a:pt x="1487134" y="144779"/>
                </a:lnTo>
                <a:lnTo>
                  <a:pt x="1441554" y="125729"/>
                </a:lnTo>
                <a:lnTo>
                  <a:pt x="1394078" y="107949"/>
                </a:lnTo>
                <a:lnTo>
                  <a:pt x="1344806" y="91439"/>
                </a:lnTo>
                <a:lnTo>
                  <a:pt x="1293837" y="77469"/>
                </a:lnTo>
                <a:lnTo>
                  <a:pt x="1241269" y="66039"/>
                </a:lnTo>
                <a:lnTo>
                  <a:pt x="1187203" y="55879"/>
                </a:lnTo>
                <a:lnTo>
                  <a:pt x="1131737" y="48259"/>
                </a:lnTo>
                <a:lnTo>
                  <a:pt x="1074969" y="41909"/>
                </a:lnTo>
                <a:lnTo>
                  <a:pt x="1017000" y="38099"/>
                </a:lnTo>
                <a:lnTo>
                  <a:pt x="957929" y="38099"/>
                </a:lnTo>
                <a:lnTo>
                  <a:pt x="957929" y="19049"/>
                </a:lnTo>
                <a:lnTo>
                  <a:pt x="1192355" y="19049"/>
                </a:lnTo>
                <a:lnTo>
                  <a:pt x="1236349" y="26669"/>
                </a:lnTo>
                <a:lnTo>
                  <a:pt x="1288788" y="38099"/>
                </a:lnTo>
                <a:lnTo>
                  <a:pt x="1339894" y="50799"/>
                </a:lnTo>
                <a:lnTo>
                  <a:pt x="1389559" y="66039"/>
                </a:lnTo>
                <a:lnTo>
                  <a:pt x="1437675" y="82549"/>
                </a:lnTo>
                <a:lnTo>
                  <a:pt x="1484133" y="101599"/>
                </a:lnTo>
                <a:lnTo>
                  <a:pt x="1528827" y="121919"/>
                </a:lnTo>
                <a:lnTo>
                  <a:pt x="1571648" y="143509"/>
                </a:lnTo>
                <a:lnTo>
                  <a:pt x="1612488" y="167639"/>
                </a:lnTo>
                <a:lnTo>
                  <a:pt x="1651240" y="193039"/>
                </a:lnTo>
                <a:lnTo>
                  <a:pt x="1687795" y="218439"/>
                </a:lnTo>
                <a:lnTo>
                  <a:pt x="1722046" y="246379"/>
                </a:lnTo>
                <a:lnTo>
                  <a:pt x="1753885" y="275589"/>
                </a:lnTo>
                <a:lnTo>
                  <a:pt x="1783203" y="306069"/>
                </a:lnTo>
                <a:lnTo>
                  <a:pt x="1809893" y="336549"/>
                </a:lnTo>
                <a:lnTo>
                  <a:pt x="1833848" y="369569"/>
                </a:lnTo>
                <a:lnTo>
                  <a:pt x="1854958" y="403859"/>
                </a:lnTo>
                <a:lnTo>
                  <a:pt x="1873117" y="438149"/>
                </a:lnTo>
                <a:lnTo>
                  <a:pt x="1888216" y="473709"/>
                </a:lnTo>
                <a:lnTo>
                  <a:pt x="1908804" y="547369"/>
                </a:lnTo>
                <a:lnTo>
                  <a:pt x="1914076" y="585469"/>
                </a:lnTo>
                <a:lnTo>
                  <a:pt x="1915858" y="623569"/>
                </a:lnTo>
                <a:lnTo>
                  <a:pt x="1914191" y="660399"/>
                </a:lnTo>
                <a:lnTo>
                  <a:pt x="1908804" y="701039"/>
                </a:lnTo>
                <a:lnTo>
                  <a:pt x="1888216" y="774699"/>
                </a:lnTo>
                <a:lnTo>
                  <a:pt x="1873117" y="810259"/>
                </a:lnTo>
                <a:lnTo>
                  <a:pt x="1854958" y="844549"/>
                </a:lnTo>
                <a:lnTo>
                  <a:pt x="1833848" y="877569"/>
                </a:lnTo>
                <a:lnTo>
                  <a:pt x="1809893" y="910589"/>
                </a:lnTo>
                <a:lnTo>
                  <a:pt x="1783203" y="942339"/>
                </a:lnTo>
                <a:lnTo>
                  <a:pt x="1753885" y="972819"/>
                </a:lnTo>
                <a:lnTo>
                  <a:pt x="1722046" y="1000759"/>
                </a:lnTo>
                <a:lnTo>
                  <a:pt x="1687795" y="1028699"/>
                </a:lnTo>
                <a:lnTo>
                  <a:pt x="1651240" y="1055369"/>
                </a:lnTo>
                <a:lnTo>
                  <a:pt x="1612488" y="1080769"/>
                </a:lnTo>
                <a:lnTo>
                  <a:pt x="1571648" y="1103629"/>
                </a:lnTo>
                <a:lnTo>
                  <a:pt x="1528827" y="1125219"/>
                </a:lnTo>
                <a:lnTo>
                  <a:pt x="1484133" y="1145539"/>
                </a:lnTo>
                <a:lnTo>
                  <a:pt x="1437675" y="1164589"/>
                </a:lnTo>
                <a:lnTo>
                  <a:pt x="1389559" y="1181099"/>
                </a:lnTo>
                <a:lnTo>
                  <a:pt x="1339894" y="1196339"/>
                </a:lnTo>
                <a:lnTo>
                  <a:pt x="1288788" y="1210309"/>
                </a:lnTo>
                <a:close/>
              </a:path>
              <a:path w="1916430" h="1248410">
                <a:moveTo>
                  <a:pt x="19049" y="642619"/>
                </a:moveTo>
                <a:lnTo>
                  <a:pt x="11653" y="641349"/>
                </a:lnTo>
                <a:lnTo>
                  <a:pt x="5595" y="637539"/>
                </a:lnTo>
                <a:lnTo>
                  <a:pt x="1503" y="631189"/>
                </a:lnTo>
                <a:lnTo>
                  <a:pt x="0" y="623569"/>
                </a:lnTo>
                <a:lnTo>
                  <a:pt x="1503" y="615949"/>
                </a:lnTo>
                <a:lnTo>
                  <a:pt x="5595" y="610869"/>
                </a:lnTo>
                <a:lnTo>
                  <a:pt x="11653" y="605789"/>
                </a:lnTo>
                <a:lnTo>
                  <a:pt x="19049" y="604519"/>
                </a:lnTo>
                <a:lnTo>
                  <a:pt x="26446" y="605789"/>
                </a:lnTo>
                <a:lnTo>
                  <a:pt x="32504" y="610869"/>
                </a:lnTo>
                <a:lnTo>
                  <a:pt x="36596" y="615949"/>
                </a:lnTo>
                <a:lnTo>
                  <a:pt x="38100" y="623569"/>
                </a:lnTo>
                <a:lnTo>
                  <a:pt x="36596" y="631189"/>
                </a:lnTo>
                <a:lnTo>
                  <a:pt x="32504" y="637539"/>
                </a:lnTo>
                <a:lnTo>
                  <a:pt x="26446" y="641349"/>
                </a:lnTo>
                <a:lnTo>
                  <a:pt x="19049" y="642619"/>
                </a:lnTo>
                <a:close/>
              </a:path>
              <a:path w="1916430" h="1248410">
                <a:moveTo>
                  <a:pt x="38100" y="623569"/>
                </a:moveTo>
                <a:lnTo>
                  <a:pt x="36596" y="615949"/>
                </a:lnTo>
                <a:lnTo>
                  <a:pt x="32504" y="610869"/>
                </a:lnTo>
                <a:lnTo>
                  <a:pt x="26446" y="605789"/>
                </a:lnTo>
                <a:lnTo>
                  <a:pt x="19049" y="604519"/>
                </a:lnTo>
                <a:lnTo>
                  <a:pt x="39029" y="604519"/>
                </a:lnTo>
                <a:lnTo>
                  <a:pt x="38100" y="623569"/>
                </a:lnTo>
                <a:close/>
              </a:path>
              <a:path w="1916430" h="1248410">
                <a:moveTo>
                  <a:pt x="957929" y="1248409"/>
                </a:moveTo>
                <a:lnTo>
                  <a:pt x="900441" y="1247139"/>
                </a:lnTo>
                <a:lnTo>
                  <a:pt x="843748" y="1244599"/>
                </a:lnTo>
                <a:lnTo>
                  <a:pt x="787956" y="1238249"/>
                </a:lnTo>
                <a:lnTo>
                  <a:pt x="733173" y="1230629"/>
                </a:lnTo>
                <a:lnTo>
                  <a:pt x="679509" y="1221739"/>
                </a:lnTo>
                <a:lnTo>
                  <a:pt x="627069" y="1210309"/>
                </a:lnTo>
                <a:lnTo>
                  <a:pt x="575963" y="1196339"/>
                </a:lnTo>
                <a:lnTo>
                  <a:pt x="526298" y="1181099"/>
                </a:lnTo>
                <a:lnTo>
                  <a:pt x="478183" y="1164589"/>
                </a:lnTo>
                <a:lnTo>
                  <a:pt x="431724" y="1145539"/>
                </a:lnTo>
                <a:lnTo>
                  <a:pt x="387030" y="1125219"/>
                </a:lnTo>
                <a:lnTo>
                  <a:pt x="344209" y="1103629"/>
                </a:lnTo>
                <a:lnTo>
                  <a:pt x="303369" y="1080769"/>
                </a:lnTo>
                <a:lnTo>
                  <a:pt x="264617" y="1055369"/>
                </a:lnTo>
                <a:lnTo>
                  <a:pt x="228062" y="1028699"/>
                </a:lnTo>
                <a:lnTo>
                  <a:pt x="193811" y="1000759"/>
                </a:lnTo>
                <a:lnTo>
                  <a:pt x="161973" y="972819"/>
                </a:lnTo>
                <a:lnTo>
                  <a:pt x="132655" y="942339"/>
                </a:lnTo>
                <a:lnTo>
                  <a:pt x="105964" y="910589"/>
                </a:lnTo>
                <a:lnTo>
                  <a:pt x="82010" y="877569"/>
                </a:lnTo>
                <a:lnTo>
                  <a:pt x="60899" y="844549"/>
                </a:lnTo>
                <a:lnTo>
                  <a:pt x="42741" y="810259"/>
                </a:lnTo>
                <a:lnTo>
                  <a:pt x="27642" y="774699"/>
                </a:lnTo>
                <a:lnTo>
                  <a:pt x="15710" y="737869"/>
                </a:lnTo>
                <a:lnTo>
                  <a:pt x="1781" y="662939"/>
                </a:lnTo>
                <a:lnTo>
                  <a:pt x="0" y="623569"/>
                </a:lnTo>
                <a:lnTo>
                  <a:pt x="1503" y="631189"/>
                </a:lnTo>
                <a:lnTo>
                  <a:pt x="5595" y="637539"/>
                </a:lnTo>
                <a:lnTo>
                  <a:pt x="11653" y="641349"/>
                </a:lnTo>
                <a:lnTo>
                  <a:pt x="19049" y="642619"/>
                </a:lnTo>
                <a:lnTo>
                  <a:pt x="39029" y="642619"/>
                </a:lnTo>
                <a:lnTo>
                  <a:pt x="39874" y="660399"/>
                </a:lnTo>
                <a:lnTo>
                  <a:pt x="53768" y="731519"/>
                </a:lnTo>
                <a:lnTo>
                  <a:pt x="80797" y="800099"/>
                </a:lnTo>
                <a:lnTo>
                  <a:pt x="120167" y="864869"/>
                </a:lnTo>
                <a:lnTo>
                  <a:pt x="144232" y="896619"/>
                </a:lnTo>
                <a:lnTo>
                  <a:pt x="171084" y="927099"/>
                </a:lnTo>
                <a:lnTo>
                  <a:pt x="200624" y="956309"/>
                </a:lnTo>
                <a:lnTo>
                  <a:pt x="232753" y="984249"/>
                </a:lnTo>
                <a:lnTo>
                  <a:pt x="267373" y="1010919"/>
                </a:lnTo>
                <a:lnTo>
                  <a:pt x="304383" y="1036319"/>
                </a:lnTo>
                <a:lnTo>
                  <a:pt x="343684" y="1060449"/>
                </a:lnTo>
                <a:lnTo>
                  <a:pt x="385178" y="1082039"/>
                </a:lnTo>
                <a:lnTo>
                  <a:pt x="428765" y="1103629"/>
                </a:lnTo>
                <a:lnTo>
                  <a:pt x="474346" y="1122679"/>
                </a:lnTo>
                <a:lnTo>
                  <a:pt x="521821" y="1140459"/>
                </a:lnTo>
                <a:lnTo>
                  <a:pt x="571092" y="1155699"/>
                </a:lnTo>
                <a:lnTo>
                  <a:pt x="622060" y="1169669"/>
                </a:lnTo>
                <a:lnTo>
                  <a:pt x="674624" y="1182369"/>
                </a:lnTo>
                <a:lnTo>
                  <a:pt x="728686" y="1192529"/>
                </a:lnTo>
                <a:lnTo>
                  <a:pt x="784147" y="1200149"/>
                </a:lnTo>
                <a:lnTo>
                  <a:pt x="840907" y="1205229"/>
                </a:lnTo>
                <a:lnTo>
                  <a:pt x="898867" y="1209039"/>
                </a:lnTo>
                <a:lnTo>
                  <a:pt x="957929" y="1210309"/>
                </a:lnTo>
                <a:lnTo>
                  <a:pt x="1287881" y="1210309"/>
                </a:lnTo>
                <a:lnTo>
                  <a:pt x="1236349" y="1221739"/>
                </a:lnTo>
                <a:lnTo>
                  <a:pt x="1192355" y="1229359"/>
                </a:lnTo>
                <a:lnTo>
                  <a:pt x="957929" y="1229359"/>
                </a:lnTo>
                <a:lnTo>
                  <a:pt x="957929" y="1248409"/>
                </a:lnTo>
                <a:close/>
              </a:path>
              <a:path w="1916430" h="1248410">
                <a:moveTo>
                  <a:pt x="39029" y="642619"/>
                </a:moveTo>
                <a:lnTo>
                  <a:pt x="19049" y="642619"/>
                </a:lnTo>
                <a:lnTo>
                  <a:pt x="26446" y="641349"/>
                </a:lnTo>
                <a:lnTo>
                  <a:pt x="32504" y="637539"/>
                </a:lnTo>
                <a:lnTo>
                  <a:pt x="36596" y="631189"/>
                </a:lnTo>
                <a:lnTo>
                  <a:pt x="38100" y="623569"/>
                </a:lnTo>
                <a:lnTo>
                  <a:pt x="38967" y="641349"/>
                </a:lnTo>
                <a:lnTo>
                  <a:pt x="39029" y="642619"/>
                </a:lnTo>
                <a:close/>
              </a:path>
              <a:path w="1916430" h="1248410">
                <a:moveTo>
                  <a:pt x="957929" y="1248409"/>
                </a:moveTo>
                <a:lnTo>
                  <a:pt x="957929" y="1229359"/>
                </a:lnTo>
                <a:lnTo>
                  <a:pt x="1192355" y="1229359"/>
                </a:lnTo>
                <a:lnTo>
                  <a:pt x="1127902" y="1238249"/>
                </a:lnTo>
                <a:lnTo>
                  <a:pt x="1072110" y="1244599"/>
                </a:lnTo>
                <a:lnTo>
                  <a:pt x="1015416" y="1247139"/>
                </a:lnTo>
                <a:lnTo>
                  <a:pt x="957929" y="1248409"/>
                </a:lnTo>
                <a:close/>
              </a:path>
            </a:pathLst>
          </a:custGeom>
          <a:solidFill>
            <a:srgbClr val="8064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760"/>
              </a:lnSpc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9C9F4BA-8992-87E4-0D4A-EF1181C6E7D5}"/>
              </a:ext>
            </a:extLst>
          </p:cNvPr>
          <p:cNvSpPr txBox="1"/>
          <p:nvPr/>
        </p:nvSpPr>
        <p:spPr>
          <a:xfrm>
            <a:off x="376424" y="626116"/>
            <a:ext cx="2042911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/>
              <a:t>OFF BY ONE</a:t>
            </a:r>
          </a:p>
          <a:p>
            <a:endParaRPr lang="en-IN" dirty="0"/>
          </a:p>
        </p:txBody>
      </p:sp>
      <p:pic>
        <p:nvPicPr>
          <p:cNvPr id="5" name="Picture 4" descr="A logo with text and a green light bulb&#10;&#10;AI-generated content may be incorrect.">
            <a:extLst>
              <a:ext uri="{FF2B5EF4-FFF2-40B4-BE49-F238E27FC236}">
                <a16:creationId xmlns:a16="http://schemas.microsoft.com/office/drawing/2014/main" id="{E62CE973-4A26-2298-9ACD-0B3BDD164B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68600" y="337068"/>
            <a:ext cx="2403147" cy="1144040"/>
          </a:xfrm>
          <a:prstGeom prst="rect">
            <a:avLst/>
          </a:prstGeom>
        </p:spPr>
      </p:pic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087C3451-1862-E3C0-A341-48F4345BB6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1382625"/>
              </p:ext>
            </p:extLst>
          </p:nvPr>
        </p:nvGraphicFramePr>
        <p:xfrm>
          <a:off x="838201" y="1787875"/>
          <a:ext cx="16344649" cy="66555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24245">
                  <a:extLst>
                    <a:ext uri="{9D8B030D-6E8A-4147-A177-3AD203B41FA5}">
                      <a16:colId xmlns:a16="http://schemas.microsoft.com/office/drawing/2014/main" val="2997014924"/>
                    </a:ext>
                  </a:extLst>
                </a:gridCol>
                <a:gridCol w="5413615">
                  <a:extLst>
                    <a:ext uri="{9D8B030D-6E8A-4147-A177-3AD203B41FA5}">
                      <a16:colId xmlns:a16="http://schemas.microsoft.com/office/drawing/2014/main" val="2073554546"/>
                    </a:ext>
                  </a:extLst>
                </a:gridCol>
                <a:gridCol w="2821269">
                  <a:extLst>
                    <a:ext uri="{9D8B030D-6E8A-4147-A177-3AD203B41FA5}">
                      <a16:colId xmlns:a16="http://schemas.microsoft.com/office/drawing/2014/main" val="3558148400"/>
                    </a:ext>
                  </a:extLst>
                </a:gridCol>
                <a:gridCol w="3716590">
                  <a:extLst>
                    <a:ext uri="{9D8B030D-6E8A-4147-A177-3AD203B41FA5}">
                      <a16:colId xmlns:a16="http://schemas.microsoft.com/office/drawing/2014/main" val="1093149219"/>
                    </a:ext>
                  </a:extLst>
                </a:gridCol>
                <a:gridCol w="3268930">
                  <a:extLst>
                    <a:ext uri="{9D8B030D-6E8A-4147-A177-3AD203B41FA5}">
                      <a16:colId xmlns:a16="http://schemas.microsoft.com/office/drawing/2014/main" val="2398864864"/>
                    </a:ext>
                  </a:extLst>
                </a:gridCol>
              </a:tblGrid>
              <a:tr h="37455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/>
                        <a:t>No.</a:t>
                      </a:r>
                    </a:p>
                  </a:txBody>
                  <a:tcPr marL="73752" marR="73752" marT="36876" marB="3687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/>
                        <a:t>Reference / Source</a:t>
                      </a:r>
                    </a:p>
                  </a:txBody>
                  <a:tcPr marL="73752" marR="73752" marT="36876" marB="3687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/>
                        <a:t>Category</a:t>
                      </a:r>
                    </a:p>
                  </a:txBody>
                  <a:tcPr marL="73752" marR="73752" marT="36876" marB="3687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/>
                        <a:t>Relevance to </a:t>
                      </a:r>
                      <a:r>
                        <a:rPr lang="en-IN" sz="2000" b="1" dirty="0" err="1"/>
                        <a:t>SchemePath</a:t>
                      </a:r>
                      <a:r>
                        <a:rPr lang="en-IN" sz="2000" b="1" dirty="0"/>
                        <a:t> AI</a:t>
                      </a:r>
                    </a:p>
                  </a:txBody>
                  <a:tcPr marL="73752" marR="73752" marT="36876" marB="3687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/>
                        <a:t>Use in Project</a:t>
                      </a:r>
                    </a:p>
                  </a:txBody>
                  <a:tcPr marL="73752" marR="73752" marT="36876" marB="36876" anchor="ctr"/>
                </a:tc>
                <a:extLst>
                  <a:ext uri="{0D108BD9-81ED-4DB2-BD59-A6C34878D82A}">
                    <a16:rowId xmlns:a16="http://schemas.microsoft.com/office/drawing/2014/main" val="131416560"/>
                  </a:ext>
                </a:extLst>
              </a:tr>
              <a:tr h="83341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dirty="0"/>
                        <a:t>1</a:t>
                      </a:r>
                    </a:p>
                  </a:txBody>
                  <a:tcPr marL="73752" marR="73752" marT="36876" marB="368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hlinkClick r:id="rId3"/>
                        </a:rPr>
                        <a:t>IJEETR – AI-Based Prediction of Beneficiary Eligibility for Government Welfare Schemes</a:t>
                      </a:r>
                      <a:endParaRPr lang="en-IN" sz="1800" dirty="0"/>
                    </a:p>
                  </a:txBody>
                  <a:tcPr marL="73752" marR="73752" marT="36876" marB="3687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dirty="0"/>
                        <a:t>Research Paper</a:t>
                      </a:r>
                    </a:p>
                  </a:txBody>
                  <a:tcPr marL="73752" marR="73752" marT="36876" marB="368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AI/ML-based eligibility prediction using beneficiary attributes such as income and family background.</a:t>
                      </a:r>
                    </a:p>
                  </a:txBody>
                  <a:tcPr marL="73752" marR="73752" marT="36876" marB="368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Supports the AI-assisted eligibility/matching concept.</a:t>
                      </a:r>
                    </a:p>
                  </a:txBody>
                  <a:tcPr marL="73752" marR="73752" marT="36876" marB="36876" anchor="ctr"/>
                </a:tc>
                <a:extLst>
                  <a:ext uri="{0D108BD9-81ED-4DB2-BD59-A6C34878D82A}">
                    <a16:rowId xmlns:a16="http://schemas.microsoft.com/office/drawing/2014/main" val="1408302891"/>
                  </a:ext>
                </a:extLst>
              </a:tr>
              <a:tr h="108837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dirty="0"/>
                        <a:t>2</a:t>
                      </a:r>
                    </a:p>
                  </a:txBody>
                  <a:tcPr marL="73752" marR="73752" marT="36876" marB="368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hlinkClick r:id="rId4"/>
                        </a:rPr>
                        <a:t>IJEETR – Article 872</a:t>
                      </a:r>
                      <a:endParaRPr lang="en-IN" sz="1800"/>
                    </a:p>
                  </a:txBody>
                  <a:tcPr marL="73752" marR="73752" marT="36876" marB="3687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dirty="0"/>
                        <a:t>Research Paper</a:t>
                      </a:r>
                    </a:p>
                  </a:txBody>
                  <a:tcPr marL="73752" marR="73752" marT="36876" marB="368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Related academic reference provided for the project literature review.</a:t>
                      </a:r>
                    </a:p>
                  </a:txBody>
                  <a:tcPr marL="73752" marR="73752" marT="36876" marB="368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Used as supporting literature; detailed content could not be independently verified from the webpage.</a:t>
                      </a:r>
                    </a:p>
                  </a:txBody>
                  <a:tcPr marL="73752" marR="73752" marT="36876" marB="36876" anchor="ctr"/>
                </a:tc>
                <a:extLst>
                  <a:ext uri="{0D108BD9-81ED-4DB2-BD59-A6C34878D82A}">
                    <a16:rowId xmlns:a16="http://schemas.microsoft.com/office/drawing/2014/main" val="2829657125"/>
                  </a:ext>
                </a:extLst>
              </a:tr>
              <a:tr h="83341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dirty="0"/>
                        <a:t>3</a:t>
                      </a:r>
                    </a:p>
                  </a:txBody>
                  <a:tcPr marL="73752" marR="73752" marT="36876" marB="368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hlinkClick r:id="rId5"/>
                        </a:rPr>
                        <a:t>YojanaMitra – AI-Assisted Framework for Government Scheme Eligibility Matching and Guidance</a:t>
                      </a:r>
                      <a:endParaRPr lang="en-IN" sz="1800"/>
                    </a:p>
                  </a:txBody>
                  <a:tcPr marL="73752" marR="73752" marT="36876" marB="3687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dirty="0"/>
                        <a:t>Research / Framework</a:t>
                      </a:r>
                    </a:p>
                  </a:txBody>
                  <a:tcPr marL="73752" marR="73752" marT="36876" marB="368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Directly related to AI-assisted government-scheme eligibility matching and user guidance.</a:t>
                      </a:r>
                    </a:p>
                  </a:txBody>
                  <a:tcPr marL="73752" marR="73752" marT="36876" marB="368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Supports the scheme-matching and guidance workflow.</a:t>
                      </a:r>
                    </a:p>
                  </a:txBody>
                  <a:tcPr marL="73752" marR="73752" marT="36876" marB="36876" anchor="ctr"/>
                </a:tc>
                <a:extLst>
                  <a:ext uri="{0D108BD9-81ED-4DB2-BD59-A6C34878D82A}">
                    <a16:rowId xmlns:a16="http://schemas.microsoft.com/office/drawing/2014/main" val="2266635030"/>
                  </a:ext>
                </a:extLst>
              </a:tr>
              <a:tr h="57845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dirty="0"/>
                        <a:t>4</a:t>
                      </a:r>
                    </a:p>
                  </a:txBody>
                  <a:tcPr marL="73752" marR="73752" marT="36876" marB="368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hlinkClick r:id="rId6"/>
                        </a:rPr>
                        <a:t>PMEGP e-Portal</a:t>
                      </a:r>
                      <a:endParaRPr lang="en-IN" sz="1800"/>
                    </a:p>
                  </a:txBody>
                  <a:tcPr marL="73752" marR="73752" marT="36876" marB="3687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dirty="0"/>
                        <a:t>Government Portal</a:t>
                      </a:r>
                    </a:p>
                  </a:txBody>
                  <a:tcPr marL="73752" marR="73752" marT="36876" marB="368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Digital government scheme/application ecosystem.</a:t>
                      </a:r>
                    </a:p>
                  </a:txBody>
                  <a:tcPr marL="73752" marR="73752" marT="36876" marB="368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Reference for digital scheme access and application workflow.</a:t>
                      </a:r>
                    </a:p>
                  </a:txBody>
                  <a:tcPr marL="73752" marR="73752" marT="36876" marB="36876" anchor="ctr"/>
                </a:tc>
                <a:extLst>
                  <a:ext uri="{0D108BD9-81ED-4DB2-BD59-A6C34878D82A}">
                    <a16:rowId xmlns:a16="http://schemas.microsoft.com/office/drawing/2014/main" val="2231417406"/>
                  </a:ext>
                </a:extLst>
              </a:tr>
              <a:tr h="108837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dirty="0"/>
                        <a:t>5</a:t>
                      </a:r>
                    </a:p>
                  </a:txBody>
                  <a:tcPr marL="73752" marR="73752" marT="36876" marB="368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hlinkClick r:id="rId7"/>
                        </a:rPr>
                        <a:t>Startup India – Government Schemes</a:t>
                      </a:r>
                      <a:endParaRPr lang="en-IN" sz="1800"/>
                    </a:p>
                  </a:txBody>
                  <a:tcPr marL="73752" marR="73752" marT="36876" marB="3687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dirty="0"/>
                        <a:t>Government Portal</a:t>
                      </a:r>
                    </a:p>
                  </a:txBody>
                  <a:tcPr marL="73752" marR="73752" marT="36876" marB="368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Provides information on Central Government schemes, including objectives, eligibility criteria, application process and benefits.</a:t>
                      </a:r>
                    </a:p>
                  </a:txBody>
                  <a:tcPr marL="73752" marR="73752" marT="36876" marB="368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Reference for scheme discovery and verified scheme information.</a:t>
                      </a:r>
                    </a:p>
                  </a:txBody>
                  <a:tcPr marL="73752" marR="73752" marT="36876" marB="36876" anchor="ctr"/>
                </a:tc>
                <a:extLst>
                  <a:ext uri="{0D108BD9-81ED-4DB2-BD59-A6C34878D82A}">
                    <a16:rowId xmlns:a16="http://schemas.microsoft.com/office/drawing/2014/main" val="4119046202"/>
                  </a:ext>
                </a:extLst>
              </a:tr>
              <a:tr h="62122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dirty="0"/>
                        <a:t>6</a:t>
                      </a:r>
                    </a:p>
                  </a:txBody>
                  <a:tcPr marL="73752" marR="73752" marT="36876" marB="368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hlinkClick r:id="rId8"/>
                        </a:rPr>
                        <a:t>Ministry of MSME – Offerings</a:t>
                      </a:r>
                      <a:endParaRPr lang="en-IN" sz="1800"/>
                    </a:p>
                  </a:txBody>
                  <a:tcPr marL="73752" marR="73752" marT="36876" marB="3687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dirty="0"/>
                        <a:t>Government Source</a:t>
                      </a:r>
                    </a:p>
                  </a:txBody>
                  <a:tcPr marL="73752" marR="73752" marT="36876" marB="368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Official Ministry of MSME source for schemes and support offerings.</a:t>
                      </a:r>
                    </a:p>
                  </a:txBody>
                  <a:tcPr marL="73752" marR="73752" marT="36876" marB="368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Primary government reference for MSME-related scheme data.</a:t>
                      </a:r>
                    </a:p>
                  </a:txBody>
                  <a:tcPr marL="73752" marR="73752" marT="36876" marB="36876" anchor="ctr"/>
                </a:tc>
                <a:extLst>
                  <a:ext uri="{0D108BD9-81ED-4DB2-BD59-A6C34878D82A}">
                    <a16:rowId xmlns:a16="http://schemas.microsoft.com/office/drawing/2014/main" val="2752712105"/>
                  </a:ext>
                </a:extLst>
              </a:tr>
              <a:tr h="83341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dirty="0"/>
                        <a:t>7</a:t>
                      </a:r>
                    </a:p>
                  </a:txBody>
                  <a:tcPr marL="73752" marR="73752" marT="36876" marB="368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 err="1">
                          <a:hlinkClick r:id="rId9"/>
                        </a:rPr>
                        <a:t>myScheme</a:t>
                      </a:r>
                      <a:r>
                        <a:rPr lang="en-IN" sz="1800" dirty="0">
                          <a:hlinkClick r:id="rId9"/>
                        </a:rPr>
                        <a:t> – Government of India</a:t>
                      </a:r>
                      <a:endParaRPr lang="en-IN" sz="1800" dirty="0"/>
                    </a:p>
                  </a:txBody>
                  <a:tcPr marL="73752" marR="73752" marT="36876" marB="3687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dirty="0"/>
                        <a:t>Government Portal</a:t>
                      </a:r>
                    </a:p>
                  </a:txBody>
                  <a:tcPr marL="73752" marR="73752" marT="36876" marB="368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Government scheme discovery platform.</a:t>
                      </a:r>
                    </a:p>
                  </a:txBody>
                  <a:tcPr marL="73752" marR="73752" marT="36876" marB="368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Reference for beneficiary-oriented scheme discovery and eligibility information.</a:t>
                      </a:r>
                    </a:p>
                  </a:txBody>
                  <a:tcPr marL="73752" marR="73752" marT="36876" marB="36876" anchor="ctr"/>
                </a:tc>
                <a:extLst>
                  <a:ext uri="{0D108BD9-81ED-4DB2-BD59-A6C34878D82A}">
                    <a16:rowId xmlns:a16="http://schemas.microsoft.com/office/drawing/2014/main" val="4248915973"/>
                  </a:ext>
                </a:extLst>
              </a:tr>
            </a:tbl>
          </a:graphicData>
        </a:graphic>
      </p:graphicFrame>
      <p:pic>
        <p:nvPicPr>
          <p:cNvPr id="28" name="Picture 27">
            <a:extLst>
              <a:ext uri="{FF2B5EF4-FFF2-40B4-BE49-F238E27FC236}">
                <a16:creationId xmlns:a16="http://schemas.microsoft.com/office/drawing/2014/main" id="{8CF78140-FC57-A5EF-FDC1-D2ED63F14738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494" y="8481511"/>
            <a:ext cx="800106" cy="1028706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084BABC8-CD7A-CBAC-C9A4-EBFC62729965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0800" y="8604448"/>
            <a:ext cx="800106" cy="81261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6FB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dirty="0"/>
        </a:defPPr>
      </a:lst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371</TotalTime>
  <Words>1071</Words>
  <Application>Microsoft Office PowerPoint</Application>
  <PresentationFormat>Custom</PresentationFormat>
  <Paragraphs>182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Aptos Narrow</vt:lpstr>
      <vt:lpstr>Arial</vt:lpstr>
      <vt:lpstr>Arial Black</vt:lpstr>
      <vt:lpstr>Arial MT</vt:lpstr>
      <vt:lpstr>Tahoma</vt:lpstr>
      <vt:lpstr>Times New Roman</vt:lpstr>
      <vt:lpstr>Office Theme</vt:lpstr>
      <vt:lpstr>SMART INDIA HACKATHON 2026</vt:lpstr>
      <vt:lpstr>IDEA TITLE</vt:lpstr>
      <vt:lpstr>TECHNICAL APPROACH</vt:lpstr>
      <vt:lpstr>FEASIBILITY AND VIABILITY</vt:lpstr>
      <vt:lpstr>IMPACT AND BENEFITS</vt:lpstr>
      <vt:lpstr>RESEARCH  AND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SIH2025-IDEA-Presentation-Format(1).pptx</dc:title>
  <dc:creator>sanchita gade</dc:creator>
  <cp:keywords>DAGy497Vdkc,BAGxu6kXjuI,0</cp:keywords>
  <cp:lastModifiedBy>Sanchita Gade</cp:lastModifiedBy>
  <cp:revision>12</cp:revision>
  <dcterms:created xsi:type="dcterms:W3CDTF">2026-09-28T15:35:42Z</dcterms:created>
  <dcterms:modified xsi:type="dcterms:W3CDTF">2026-09-30T07:44:46Z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2025-09-18T00:00:00Z</vt:filetime>
  </property>
  <property fmtid="{D5CDD505-2E9C-101B-9397-08002B2CF9AE}" pid="4" name="Creator">
    <vt:lpwstr>Canva</vt:lpwstr>
  </property>
  <property fmtid="{D5CDD505-2E9C-101B-9397-08002B2CF9AE}" pid="5" name="LastSaved">
    <vt:filetime>2026-09-28T00:00:00Z</vt:filetime>
  </property>
  <property fmtid="{D5CDD505-2E9C-101B-9397-08002B2CF9AE}" pid="6" name="Producer">
    <vt:lpwstr>Canva</vt:lpwstr>
  </property>
  <property fmtid="{D5CDD505-2E9C-101B-9397-08002B2CF9AE}" pid="7" name="containsAiGeneratedContent">
    <vt:lpwstr>Yes</vt:lpwstr>
  </property>
</Properties>
</file>